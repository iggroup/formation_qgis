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48"/>
  </p:notesMasterIdLst>
  <p:sldIdLst>
    <p:sldId id="1004" r:id="rId4"/>
    <p:sldId id="559" r:id="rId5"/>
    <p:sldId id="977" r:id="rId6"/>
    <p:sldId id="970" r:id="rId7"/>
    <p:sldId id="1046" r:id="rId8"/>
    <p:sldId id="1047" r:id="rId9"/>
    <p:sldId id="1006" r:id="rId10"/>
    <p:sldId id="1007" r:id="rId11"/>
    <p:sldId id="1008" r:id="rId12"/>
    <p:sldId id="1009" r:id="rId13"/>
    <p:sldId id="1010" r:id="rId14"/>
    <p:sldId id="1011" r:id="rId15"/>
    <p:sldId id="1012" r:id="rId16"/>
    <p:sldId id="1013" r:id="rId17"/>
    <p:sldId id="1014" r:id="rId18"/>
    <p:sldId id="1031" r:id="rId19"/>
    <p:sldId id="1015" r:id="rId20"/>
    <p:sldId id="1018" r:id="rId21"/>
    <p:sldId id="1026" r:id="rId22"/>
    <p:sldId id="1017" r:id="rId23"/>
    <p:sldId id="1020" r:id="rId24"/>
    <p:sldId id="1025" r:id="rId25"/>
    <p:sldId id="1021" r:id="rId26"/>
    <p:sldId id="1016" r:id="rId27"/>
    <p:sldId id="1022" r:id="rId28"/>
    <p:sldId id="1023" r:id="rId29"/>
    <p:sldId id="1024" r:id="rId30"/>
    <p:sldId id="1027" r:id="rId31"/>
    <p:sldId id="1028" r:id="rId32"/>
    <p:sldId id="1037" r:id="rId33"/>
    <p:sldId id="1029" r:id="rId34"/>
    <p:sldId id="1030" r:id="rId35"/>
    <p:sldId id="1032" r:id="rId36"/>
    <p:sldId id="1033" r:id="rId37"/>
    <p:sldId id="1035" r:id="rId38"/>
    <p:sldId id="1034" r:id="rId39"/>
    <p:sldId id="1036" r:id="rId40"/>
    <p:sldId id="1039" r:id="rId41"/>
    <p:sldId id="1038" r:id="rId42"/>
    <p:sldId id="1041" r:id="rId43"/>
    <p:sldId id="1042" r:id="rId44"/>
    <p:sldId id="1043" r:id="rId45"/>
    <p:sldId id="1044" r:id="rId46"/>
    <p:sldId id="1040" r:id="rId4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E6B9B8"/>
    <a:srgbClr val="F4E5E3"/>
    <a:srgbClr val="FCE4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892" autoAdjust="0"/>
    <p:restoredTop sz="57696" autoAdjust="0"/>
  </p:normalViewPr>
  <p:slideViewPr>
    <p:cSldViewPr snapToGrid="0">
      <p:cViewPr varScale="1">
        <p:scale>
          <a:sx n="61" d="100"/>
          <a:sy n="61" d="100"/>
        </p:scale>
        <p:origin x="1632"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H"/>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CDF21C-AC0D-409A-8DA0-C87F10F0EE7F}" type="datetimeFigureOut">
              <a:rPr lang="fr-CH" smtClean="0"/>
              <a:t>14.11.2024</a:t>
            </a:fld>
            <a:endParaRPr lang="fr-CH"/>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H"/>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H"/>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413771-3421-4691-A5D9-6B93A8F17E5F}" type="slidenum">
              <a:rPr lang="fr-CH" smtClean="0"/>
              <a:t>‹N°›</a:t>
            </a:fld>
            <a:endParaRPr lang="fr-CH"/>
          </a:p>
        </p:txBody>
      </p:sp>
    </p:spTree>
    <p:extLst>
      <p:ext uri="{BB962C8B-B14F-4D97-AF65-F5344CB8AC3E}">
        <p14:creationId xmlns:p14="http://schemas.microsoft.com/office/powerpoint/2010/main" val="1945413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teksi.ch/"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2075" y="744538"/>
            <a:ext cx="6627813" cy="3729037"/>
          </a:xfrm>
        </p:spPr>
      </p:sp>
      <p:sp>
        <p:nvSpPr>
          <p:cNvPr id="3" name="Espace réservé des commentaires 2"/>
          <p:cNvSpPr>
            <a:spLocks noGrp="1"/>
          </p:cNvSpPr>
          <p:nvPr>
            <p:ph type="body" idx="1"/>
          </p:nvPr>
        </p:nvSpPr>
        <p:spPr/>
        <p:txBody>
          <a:bodyPr>
            <a:normAutofit/>
          </a:bodyPr>
          <a:lstStyle/>
          <a:p>
            <a:endParaRPr lang="fr-CH" dirty="0"/>
          </a:p>
        </p:txBody>
      </p:sp>
      <p:sp>
        <p:nvSpPr>
          <p:cNvPr id="4" name="Espace réservé du numéro de diapositive 3"/>
          <p:cNvSpPr>
            <a:spLocks noGrp="1"/>
          </p:cNvSpPr>
          <p:nvPr>
            <p:ph type="sldNum" sz="quarter" idx="10"/>
          </p:nvPr>
        </p:nvSpPr>
        <p:spPr/>
        <p:txBody>
          <a:bodyPr/>
          <a:lstStyle/>
          <a:p>
            <a:fld id="{A1F87112-CF81-430B-B3B0-24E454C80C31}" type="slidenum">
              <a:rPr lang="fr-CH" smtClean="0"/>
              <a:t>2</a:t>
            </a:fld>
            <a:endParaRPr lang="fr-CH"/>
          </a:p>
        </p:txBody>
      </p:sp>
    </p:spTree>
    <p:extLst>
      <p:ext uri="{BB962C8B-B14F-4D97-AF65-F5344CB8AC3E}">
        <p14:creationId xmlns:p14="http://schemas.microsoft.com/office/powerpoint/2010/main" val="3966000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2075" y="744538"/>
            <a:ext cx="6627813" cy="3729037"/>
          </a:xfrm>
        </p:spPr>
      </p:sp>
      <p:sp>
        <p:nvSpPr>
          <p:cNvPr id="3" name="Espace réservé des commentaires 2"/>
          <p:cNvSpPr>
            <a:spLocks noGrp="1"/>
          </p:cNvSpPr>
          <p:nvPr>
            <p:ph type="body" idx="1"/>
          </p:nvPr>
        </p:nvSpPr>
        <p:spPr/>
        <p:txBody>
          <a:bodyPr>
            <a:normAutofit/>
          </a:bodyPr>
          <a:lstStyle/>
          <a:p>
            <a:endParaRPr lang="fr-CH" dirty="0"/>
          </a:p>
        </p:txBody>
      </p:sp>
      <p:sp>
        <p:nvSpPr>
          <p:cNvPr id="4" name="Espace réservé du numéro de diapositive 3"/>
          <p:cNvSpPr>
            <a:spLocks noGrp="1"/>
          </p:cNvSpPr>
          <p:nvPr>
            <p:ph type="sldNum" sz="quarter" idx="10"/>
          </p:nvPr>
        </p:nvSpPr>
        <p:spPr/>
        <p:txBody>
          <a:bodyPr/>
          <a:lstStyle/>
          <a:p>
            <a:fld id="{A1F87112-CF81-430B-B3B0-24E454C80C31}" type="slidenum">
              <a:rPr lang="fr-CH" smtClean="0"/>
              <a:t>3</a:t>
            </a:fld>
            <a:endParaRPr lang="fr-CH"/>
          </a:p>
        </p:txBody>
      </p:sp>
    </p:spTree>
    <p:extLst>
      <p:ext uri="{BB962C8B-B14F-4D97-AF65-F5344CB8AC3E}">
        <p14:creationId xmlns:p14="http://schemas.microsoft.com/office/powerpoint/2010/main" val="3517798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92075" y="744538"/>
            <a:ext cx="6627813" cy="3729037"/>
          </a:xfrm>
        </p:spPr>
      </p:sp>
      <p:sp>
        <p:nvSpPr>
          <p:cNvPr id="3" name="Espace réservé des commentaires 2"/>
          <p:cNvSpPr>
            <a:spLocks noGrp="1"/>
          </p:cNvSpPr>
          <p:nvPr>
            <p:ph type="body" idx="1"/>
          </p:nvPr>
        </p:nvSpPr>
        <p:spPr/>
        <p:txBody>
          <a:bodyPr>
            <a:normAutofit/>
          </a:bodyPr>
          <a:lstStyle/>
          <a:p>
            <a:endParaRPr lang="fr-CH" dirty="0"/>
          </a:p>
        </p:txBody>
      </p:sp>
      <p:sp>
        <p:nvSpPr>
          <p:cNvPr id="4" name="Espace réservé du numéro de diapositive 3"/>
          <p:cNvSpPr>
            <a:spLocks noGrp="1"/>
          </p:cNvSpPr>
          <p:nvPr>
            <p:ph type="sldNum" sz="quarter" idx="10"/>
          </p:nvPr>
        </p:nvSpPr>
        <p:spPr/>
        <p:txBody>
          <a:bodyPr/>
          <a:lstStyle/>
          <a:p>
            <a:fld id="{A1F87112-CF81-430B-B3B0-24E454C80C31}" type="slidenum">
              <a:rPr lang="fr-CH" smtClean="0"/>
              <a:t>5</a:t>
            </a:fld>
            <a:endParaRPr lang="fr-C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normAutofit fontScale="62500" lnSpcReduction="20000"/>
          </a:bodyPr>
          <a:lstStyle/>
          <a:p>
            <a:pPr fontAlgn="ctr">
              <a:buFont typeface="Arial" panose="020B0604020202020204" pitchFamily="34" charset="0"/>
              <a:buChar char="•"/>
            </a:pPr>
            <a:r>
              <a:rPr lang="fr-CH" sz="1400" b="1">
                <a:solidFill>
                  <a:srgbClr val="000000"/>
                </a:solidFill>
                <a:latin typeface="Calibri" panose="020F0502020204030204" pitchFamily="34" charset="0"/>
              </a:rPr>
              <a:t>Développement de solutions cartographiques (web et desktop)</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Bases de données spatiales</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Géoportails (2D et 3D)</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err="1">
                <a:solidFill>
                  <a:srgbClr val="000000"/>
                </a:solidFill>
                <a:highlight>
                  <a:srgbClr val="008000"/>
                </a:highlight>
                <a:latin typeface="Calibri" panose="020F0502020204030204" pitchFamily="34" charset="0"/>
              </a:rPr>
              <a:t>Géoservices</a:t>
            </a:r>
            <a:r>
              <a:rPr lang="fr-CH" sz="1100">
                <a:solidFill>
                  <a:srgbClr val="000000"/>
                </a:solidFill>
                <a:highlight>
                  <a:srgbClr val="008000"/>
                </a:highlight>
                <a:latin typeface="Calibri" panose="020F0502020204030204" pitchFamily="34" charset="0"/>
              </a:rPr>
              <a:t> / API</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Plugins QGIS</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Routines FME</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Interfaces d'acquisition (GNSS, </a:t>
            </a:r>
            <a:r>
              <a:rPr lang="fr-CH" sz="1100" err="1">
                <a:solidFill>
                  <a:srgbClr val="000000"/>
                </a:solidFill>
                <a:highlight>
                  <a:srgbClr val="008000"/>
                </a:highlight>
                <a:latin typeface="Calibri" panose="020F0502020204030204" pitchFamily="34" charset="0"/>
              </a:rPr>
              <a:t>androïd</a:t>
            </a:r>
            <a:r>
              <a:rPr lang="fr-CH" sz="1100">
                <a:solidFill>
                  <a:srgbClr val="000000"/>
                </a:solidFill>
                <a:highlight>
                  <a:srgbClr val="008000"/>
                </a:highlight>
                <a:latin typeface="Calibri" panose="020F0502020204030204" pitchFamily="34" charset="0"/>
              </a:rPr>
              <a:t>)</a:t>
            </a:r>
            <a:endParaRPr lang="fr-CH" sz="1100">
              <a:latin typeface="Calibri" panose="020F0502020204030204" pitchFamily="34" charset="0"/>
            </a:endParaRPr>
          </a:p>
          <a:p>
            <a:r>
              <a:rPr lang="fr-CH" sz="1100">
                <a:solidFill>
                  <a:srgbClr val="000000"/>
                </a:solidFill>
                <a:latin typeface="Calibri" panose="020F0502020204030204" pitchFamily="34" charset="0"/>
              </a:rPr>
              <a:t> </a:t>
            </a:r>
          </a:p>
          <a:p>
            <a:pPr fontAlgn="ctr">
              <a:buFont typeface="Arial" panose="020B0604020202020204" pitchFamily="34" charset="0"/>
              <a:buChar char="•"/>
            </a:pPr>
            <a:r>
              <a:rPr lang="fr-CH" sz="1400" b="1">
                <a:solidFill>
                  <a:srgbClr val="000000"/>
                </a:solidFill>
                <a:latin typeface="Calibri" panose="020F0502020204030204" pitchFamily="34" charset="0"/>
              </a:rPr>
              <a:t>Cadastres souterrains</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Prestataire et développeur </a:t>
            </a:r>
            <a:r>
              <a:rPr lang="fr-CH" sz="1100">
                <a:solidFill>
                  <a:srgbClr val="000000"/>
                </a:solidFill>
                <a:highlight>
                  <a:srgbClr val="008000"/>
                </a:highlight>
                <a:latin typeface="Calibri" panose="020F0502020204030204" pitchFamily="34" charset="0"/>
                <a:hlinkClick r:id="rId3"/>
              </a:rPr>
              <a:t>TEKSI</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Intégration de solution complète de gestion</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latin typeface="Calibri" panose="020F0502020204030204" pitchFamily="34" charset="0"/>
              </a:rPr>
              <a:t>Monitoring de réseau (</a:t>
            </a:r>
            <a:r>
              <a:rPr lang="fr-CH" sz="1100" err="1">
                <a:solidFill>
                  <a:srgbClr val="000000"/>
                </a:solidFill>
                <a:latin typeface="Calibri" panose="020F0502020204030204" pitchFamily="34" charset="0"/>
              </a:rPr>
              <a:t>aquaspy</a:t>
            </a:r>
            <a:r>
              <a:rPr lang="fr-CH" sz="1100">
                <a:solidFill>
                  <a:srgbClr val="000000"/>
                </a:solidFill>
                <a:latin typeface="Calibri" panose="020F0502020204030204" pitchFamily="34" charset="0"/>
              </a:rPr>
              <a:t>)</a:t>
            </a:r>
          </a:p>
          <a:p>
            <a:r>
              <a:rPr lang="fr-CH" sz="1100">
                <a:solidFill>
                  <a:srgbClr val="000000"/>
                </a:solidFill>
                <a:latin typeface="Calibri" panose="020F0502020204030204" pitchFamily="34" charset="0"/>
              </a:rPr>
              <a:t> </a:t>
            </a:r>
          </a:p>
          <a:p>
            <a:pPr fontAlgn="ctr">
              <a:buFont typeface="Arial" panose="020B0604020202020204" pitchFamily="34" charset="0"/>
              <a:buChar char="•"/>
            </a:pPr>
            <a:r>
              <a:rPr lang="fr-CH" sz="1400" b="1">
                <a:solidFill>
                  <a:srgbClr val="000000"/>
                </a:solidFill>
                <a:latin typeface="Calibri" panose="020F0502020204030204" pitchFamily="34" charset="0"/>
              </a:rPr>
              <a:t>Bases de données administratives</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Développement et gestion de base de données</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Développement d'interfaces Access</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latin typeface="Calibri" panose="020F0502020204030204" pitchFamily="34" charset="0"/>
              </a:rPr>
              <a:t>Développement d'interfaces web (en partenariat avec </a:t>
            </a:r>
            <a:r>
              <a:rPr lang="fr-CH" sz="1100">
                <a:solidFill>
                  <a:srgbClr val="000000"/>
                </a:solidFill>
                <a:highlight>
                  <a:srgbClr val="00FF00"/>
                </a:highlight>
                <a:latin typeface="Calibri" panose="020F0502020204030204" pitchFamily="34" charset="0"/>
              </a:rPr>
              <a:t>???</a:t>
            </a:r>
            <a:r>
              <a:rPr lang="fr-CH" sz="1100">
                <a:solidFill>
                  <a:srgbClr val="000000"/>
                </a:solidFill>
                <a:latin typeface="Calibri" panose="020F0502020204030204" pitchFamily="34" charset="0"/>
              </a:rPr>
              <a:t>)</a:t>
            </a:r>
          </a:p>
          <a:p>
            <a:r>
              <a:rPr lang="fr-CH" sz="1100">
                <a:latin typeface="Calibri" panose="020F0502020204030204" pitchFamily="34" charset="0"/>
              </a:rPr>
              <a:t> </a:t>
            </a:r>
          </a:p>
          <a:p>
            <a:pPr fontAlgn="ctr">
              <a:buFont typeface="Arial" panose="020B0604020202020204" pitchFamily="34" charset="0"/>
              <a:buChar char="•"/>
            </a:pPr>
            <a:r>
              <a:rPr lang="fr-CH" sz="1400" b="1">
                <a:solidFill>
                  <a:srgbClr val="000000"/>
                </a:solidFill>
                <a:latin typeface="Calibri" panose="020F0502020204030204" pitchFamily="34" charset="0"/>
              </a:rPr>
              <a:t>Données spatiales</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Migration de données</a:t>
            </a:r>
            <a:endParaRPr lang="fr-CH" sz="1100">
              <a:latin typeface="Calibri" panose="020F0502020204030204" pitchFamily="34" charset="0"/>
            </a:endParaRPr>
          </a:p>
          <a:p>
            <a:pPr marL="1104710" lvl="2" indent="-220942" fontAlgn="ctr">
              <a:buFont typeface="Arial" panose="020B0604020202020204" pitchFamily="34" charset="0"/>
              <a:buChar char="•"/>
            </a:pPr>
            <a:r>
              <a:rPr lang="fr-CH" sz="1100">
                <a:solidFill>
                  <a:srgbClr val="000000"/>
                </a:solidFill>
                <a:highlight>
                  <a:srgbClr val="008000"/>
                </a:highlight>
                <a:latin typeface="Calibri" panose="020F0502020204030204" pitchFamily="34" charset="0"/>
              </a:rPr>
              <a:t>Contrôles topologiques, géométriques et attributaires</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Gestion de données</a:t>
            </a:r>
            <a:endParaRPr lang="fr-CH" sz="1100">
              <a:latin typeface="Calibri" panose="020F0502020204030204" pitchFamily="34" charset="0"/>
            </a:endParaRPr>
          </a:p>
          <a:p>
            <a:pPr marL="1104710" lvl="2" indent="-220942" fontAlgn="ctr">
              <a:buFont typeface="Arial" panose="020B0604020202020204" pitchFamily="34" charset="0"/>
              <a:buChar char="•"/>
            </a:pPr>
            <a:r>
              <a:rPr lang="fr-CH" sz="1100">
                <a:solidFill>
                  <a:srgbClr val="000000"/>
                </a:solidFill>
                <a:highlight>
                  <a:srgbClr val="008000"/>
                </a:highlight>
                <a:latin typeface="Calibri" panose="020F0502020204030204" pitchFamily="34" charset="0"/>
              </a:rPr>
              <a:t>Hébergement et maintenance de bases de données spatiales</a:t>
            </a:r>
            <a:endParaRPr lang="fr-CH" sz="1100">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008000"/>
                </a:highlight>
                <a:latin typeface="Calibri" panose="020F0502020204030204" pitchFamily="34" charset="0"/>
              </a:rPr>
              <a:t>Analyses </a:t>
            </a:r>
            <a:r>
              <a:rPr lang="de-CH" sz="1100">
                <a:solidFill>
                  <a:srgbClr val="000000"/>
                </a:solidFill>
                <a:highlight>
                  <a:srgbClr val="008000"/>
                </a:highlight>
                <a:latin typeface="Calibri" panose="020F0502020204030204" pitchFamily="34" charset="0"/>
              </a:rPr>
              <a:t>et </a:t>
            </a:r>
            <a:r>
              <a:rPr lang="de-CH" sz="1100" err="1">
                <a:solidFill>
                  <a:srgbClr val="000000"/>
                </a:solidFill>
                <a:highlight>
                  <a:srgbClr val="008000"/>
                </a:highlight>
                <a:latin typeface="Calibri" panose="020F0502020204030204" pitchFamily="34" charset="0"/>
              </a:rPr>
              <a:t>exploitation</a:t>
            </a:r>
            <a:r>
              <a:rPr lang="de-CH" sz="1100">
                <a:solidFill>
                  <a:srgbClr val="000000"/>
                </a:solidFill>
                <a:highlight>
                  <a:srgbClr val="008000"/>
                </a:highlight>
                <a:latin typeface="Calibri" panose="020F0502020204030204" pitchFamily="34" charset="0"/>
              </a:rPr>
              <a:t> </a:t>
            </a:r>
            <a:r>
              <a:rPr lang="fr-CH" sz="1100">
                <a:solidFill>
                  <a:srgbClr val="000000"/>
                </a:solidFill>
                <a:highlight>
                  <a:srgbClr val="008000"/>
                </a:highlight>
                <a:latin typeface="Calibri" panose="020F0502020204030204" pitchFamily="34" charset="0"/>
              </a:rPr>
              <a:t>de données géospatiales</a:t>
            </a:r>
            <a:endParaRPr lang="fr-CH" sz="1100">
              <a:latin typeface="Calibri" panose="020F0502020204030204" pitchFamily="34" charset="0"/>
            </a:endParaRPr>
          </a:p>
          <a:p>
            <a:pPr marL="1104710" lvl="2" indent="-220942" fontAlgn="ctr">
              <a:buFont typeface="Arial" panose="020B0604020202020204" pitchFamily="34" charset="0"/>
              <a:buChar char="•"/>
            </a:pPr>
            <a:r>
              <a:rPr lang="fr-CH" sz="1100">
                <a:highlight>
                  <a:srgbClr val="008000"/>
                </a:highlight>
                <a:latin typeface="Calibri" panose="020F0502020204030204" pitchFamily="34" charset="0"/>
              </a:rPr>
              <a:t>Analyses spatiales</a:t>
            </a:r>
            <a:endParaRPr lang="fr-CH" sz="1100">
              <a:latin typeface="Calibri" panose="020F0502020204030204" pitchFamily="34" charset="0"/>
            </a:endParaRPr>
          </a:p>
          <a:p>
            <a:pPr marL="1104710" lvl="2" indent="-220942" fontAlgn="ctr">
              <a:buFont typeface="Arial" panose="020B0604020202020204" pitchFamily="34" charset="0"/>
              <a:buChar char="•"/>
            </a:pPr>
            <a:r>
              <a:rPr lang="fr-CH" sz="1100">
                <a:latin typeface="Calibri" panose="020F0502020204030204" pitchFamily="34" charset="0"/>
              </a:rPr>
              <a:t>Exploitation des données (Machine </a:t>
            </a:r>
            <a:r>
              <a:rPr lang="fr-CH" sz="1100" err="1">
                <a:latin typeface="Calibri" panose="020F0502020204030204" pitchFamily="34" charset="0"/>
              </a:rPr>
              <a:t>learning</a:t>
            </a:r>
            <a:r>
              <a:rPr lang="de-CH" sz="1100">
                <a:latin typeface="Calibri" panose="020F0502020204030204" pitchFamily="34" charset="0"/>
              </a:rPr>
              <a:t> / AI</a:t>
            </a:r>
            <a:r>
              <a:rPr lang="fr-CH" sz="1100">
                <a:latin typeface="Calibri" panose="020F0502020204030204" pitchFamily="34" charset="0"/>
              </a:rPr>
              <a:t>)</a:t>
            </a:r>
          </a:p>
          <a:p>
            <a:pPr marL="1104710" lvl="2" indent="-220942" fontAlgn="ctr">
              <a:buFont typeface="Arial" panose="020B0604020202020204" pitchFamily="34" charset="0"/>
              <a:buChar char="•"/>
            </a:pPr>
            <a:r>
              <a:rPr lang="fr-CH" sz="1100" err="1">
                <a:latin typeface="Calibri" panose="020F0502020204030204" pitchFamily="34" charset="0"/>
              </a:rPr>
              <a:t>Géovisualisation</a:t>
            </a:r>
            <a:endParaRPr lang="fr-CH" sz="1100">
              <a:latin typeface="Calibri" panose="020F0502020204030204" pitchFamily="34" charset="0"/>
            </a:endParaRPr>
          </a:p>
          <a:p>
            <a:r>
              <a:rPr lang="fr-CH" sz="1100">
                <a:solidFill>
                  <a:srgbClr val="000000"/>
                </a:solidFill>
                <a:latin typeface="Calibri" panose="020F0502020204030204" pitchFamily="34" charset="0"/>
              </a:rPr>
              <a:t> </a:t>
            </a:r>
          </a:p>
          <a:p>
            <a:pPr fontAlgn="ctr">
              <a:buFont typeface="Arial" panose="020B0604020202020204" pitchFamily="34" charset="0"/>
              <a:buChar char="•"/>
            </a:pPr>
            <a:r>
              <a:rPr lang="fr-CH" sz="1400" b="1">
                <a:solidFill>
                  <a:srgbClr val="000000"/>
                </a:solidFill>
                <a:latin typeface="Calibri" panose="020F0502020204030204" pitchFamily="34" charset="0"/>
              </a:rPr>
              <a:t>IOT / smart city</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FF0000"/>
                </a:highlight>
                <a:latin typeface="Calibri" panose="020F0502020204030204" pitchFamily="34" charset="0"/>
              </a:rPr>
              <a:t>Infrastructure informatique</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FF0000"/>
                </a:highlight>
                <a:latin typeface="Calibri" panose="020F0502020204030204" pitchFamily="34" charset="0"/>
              </a:rPr>
              <a:t>Infrastructure de communication (en partenariat avec </a:t>
            </a:r>
            <a:r>
              <a:rPr lang="fr-CH" sz="1100">
                <a:solidFill>
                  <a:srgbClr val="000000"/>
                </a:solidFill>
                <a:highlight>
                  <a:srgbClr val="00FF00"/>
                </a:highlight>
                <a:latin typeface="Calibri" panose="020F0502020204030204" pitchFamily="34" charset="0"/>
              </a:rPr>
              <a:t>???</a:t>
            </a:r>
            <a:r>
              <a:rPr lang="fr-CH" sz="1100">
                <a:solidFill>
                  <a:srgbClr val="000000"/>
                </a:solidFill>
                <a:highlight>
                  <a:srgbClr val="FF0000"/>
                </a:highlight>
                <a:latin typeface="Calibri" panose="020F0502020204030204" pitchFamily="34" charset="0"/>
              </a:rPr>
              <a:t>)</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latin typeface="Calibri" panose="020F0502020204030204" pitchFamily="34" charset="0"/>
              </a:rPr>
              <a:t>Analyse des données</a:t>
            </a:r>
          </a:p>
          <a:p>
            <a:pPr marL="718061" lvl="1" indent="-276177" fontAlgn="ctr">
              <a:buFont typeface="Courier New" panose="02070309020205020404" pitchFamily="49" charset="0"/>
              <a:buChar char="o"/>
            </a:pPr>
            <a:r>
              <a:rPr lang="fr-CH" sz="1100">
                <a:solidFill>
                  <a:srgbClr val="000000"/>
                </a:solidFill>
                <a:highlight>
                  <a:srgbClr val="FF0000"/>
                </a:highlight>
                <a:latin typeface="Calibri" panose="020F0502020204030204" pitchFamily="34" charset="0"/>
              </a:rPr>
              <a:t>Création de tableaux de bords</a:t>
            </a:r>
            <a:endParaRPr lang="fr-CH" sz="1100">
              <a:solidFill>
                <a:srgbClr val="000000"/>
              </a:solidFill>
              <a:latin typeface="Calibri" panose="020F0502020204030204" pitchFamily="34" charset="0"/>
            </a:endParaRPr>
          </a:p>
          <a:p>
            <a:pPr marL="718061" lvl="1" indent="-276177" fontAlgn="ctr">
              <a:buFont typeface="Courier New" panose="02070309020205020404" pitchFamily="49" charset="0"/>
              <a:buChar char="o"/>
            </a:pPr>
            <a:r>
              <a:rPr lang="fr-CH" sz="1100">
                <a:solidFill>
                  <a:srgbClr val="000000"/>
                </a:solidFill>
                <a:highlight>
                  <a:srgbClr val="FF0000"/>
                </a:highlight>
                <a:latin typeface="Calibri" panose="020F0502020204030204" pitchFamily="34" charset="0"/>
              </a:rPr>
              <a:t>Pas d'installation de capteurs</a:t>
            </a:r>
            <a:endParaRPr lang="fr-CH" sz="1100">
              <a:solidFill>
                <a:srgbClr val="000000"/>
              </a:solidFill>
              <a:latin typeface="Calibri" panose="020F0502020204030204" pitchFamily="34" charset="0"/>
            </a:endParaRPr>
          </a:p>
          <a:p>
            <a:r>
              <a:rPr lang="fr-CH" sz="1100">
                <a:latin typeface="Calibri" panose="020F0502020204030204" pitchFamily="34" charset="0"/>
              </a:rPr>
              <a:t> </a:t>
            </a:r>
          </a:p>
          <a:p>
            <a:pPr fontAlgn="ctr">
              <a:buFont typeface="Arial" panose="020B0604020202020204" pitchFamily="34" charset="0"/>
              <a:buChar char="•"/>
            </a:pPr>
            <a:r>
              <a:rPr lang="fr-CH" sz="1400" b="1">
                <a:solidFill>
                  <a:srgbClr val="000000"/>
                </a:solidFill>
                <a:latin typeface="Calibri" panose="020F0502020204030204" pitchFamily="34" charset="0"/>
              </a:rPr>
              <a:t>Gestion de projet </a:t>
            </a:r>
            <a:r>
              <a:rPr lang="fr-CH" sz="1400" b="1" err="1">
                <a:solidFill>
                  <a:srgbClr val="000000"/>
                </a:solidFill>
                <a:latin typeface="Calibri" panose="020F0502020204030204" pitchFamily="34" charset="0"/>
              </a:rPr>
              <a:t>géoinformatique</a:t>
            </a:r>
            <a:endParaRPr lang="fr-CH" sz="1100">
              <a:solidFill>
                <a:srgbClr val="000000"/>
              </a:solidFill>
              <a:latin typeface="Calibri" panose="020F0502020204030204" pitchFamily="34" charset="0"/>
            </a:endParaRPr>
          </a:p>
          <a:p>
            <a:endParaRPr lang="fr-CH"/>
          </a:p>
        </p:txBody>
      </p:sp>
      <p:sp>
        <p:nvSpPr>
          <p:cNvPr id="4" name="Espace réservé du numéro de diapositive 3"/>
          <p:cNvSpPr>
            <a:spLocks noGrp="1"/>
          </p:cNvSpPr>
          <p:nvPr>
            <p:ph type="sldNum" sz="quarter" idx="5"/>
          </p:nvPr>
        </p:nvSpPr>
        <p:spPr/>
        <p:txBody>
          <a:bodyPr/>
          <a:lstStyle/>
          <a:p>
            <a:fld id="{A1F87112-CF81-430B-B3B0-24E454C80C31}" type="slidenum">
              <a:rPr lang="fr-CH" smtClean="0"/>
              <a:t>6</a:t>
            </a:fld>
            <a:endParaRPr lang="fr-CH"/>
          </a:p>
        </p:txBody>
      </p:sp>
    </p:spTree>
    <p:extLst>
      <p:ext uri="{BB962C8B-B14F-4D97-AF65-F5344CB8AC3E}">
        <p14:creationId xmlns:p14="http://schemas.microsoft.com/office/powerpoint/2010/main" val="1110662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Avantages de QGIS par rapport à ArcGIS :</a:t>
            </a:r>
            <a:endParaRPr lang="fr-FR" dirty="0"/>
          </a:p>
          <a:p>
            <a:pPr>
              <a:buFont typeface="+mj-lt"/>
              <a:buAutoNum type="arabicPeriod"/>
            </a:pPr>
            <a:r>
              <a:rPr lang="fr-FR" b="1" dirty="0"/>
              <a:t>Coût :</a:t>
            </a:r>
            <a:r>
              <a:rPr lang="fr-FR" dirty="0"/>
              <a:t> QGIS est open source et gratuit, tandis que ArcGIS est un logiciel commercial qui nécessite l'achat de licences, ce qui rend QGIS plus accessible aux utilisateurs ayant des budgets limités.</a:t>
            </a:r>
          </a:p>
          <a:p>
            <a:pPr>
              <a:buFont typeface="+mj-lt"/>
              <a:buAutoNum type="arabicPeriod"/>
            </a:pPr>
            <a:r>
              <a:rPr lang="fr-FR" b="1" dirty="0"/>
              <a:t>Communauté et support :</a:t>
            </a:r>
            <a:r>
              <a:rPr lang="fr-FR" dirty="0"/>
              <a:t> QGIS bénéficie d'une communauté d'utilisateurs et de développeurs très active, offrant un vaste éventail de ressources en ligne, de forums de discussion et de tutoriels. Le support communautaire peut être plus rapide et accessible que le support technique fourni par </a:t>
            </a:r>
            <a:r>
              <a:rPr lang="fr-FR" dirty="0" err="1"/>
              <a:t>Esri</a:t>
            </a:r>
            <a:r>
              <a:rPr lang="fr-FR" dirty="0"/>
              <a:t> pour ArcGIS.</a:t>
            </a:r>
          </a:p>
          <a:p>
            <a:pPr>
              <a:buFont typeface="+mj-lt"/>
              <a:buAutoNum type="arabicPeriod"/>
            </a:pPr>
            <a:r>
              <a:rPr lang="fr-FR" b="1" dirty="0"/>
              <a:t>Flexibilité :</a:t>
            </a:r>
            <a:r>
              <a:rPr lang="fr-FR" dirty="0"/>
              <a:t> QGIS est très flexible et personnalisable grâce à son architecture open source. Les utilisateurs peuvent développer leurs propres plugins et extensions pour répondre à des besoins spécifiques.</a:t>
            </a:r>
          </a:p>
          <a:p>
            <a:pPr>
              <a:buFont typeface="+mj-lt"/>
              <a:buAutoNum type="arabicPeriod"/>
            </a:pPr>
            <a:r>
              <a:rPr lang="fr-FR" b="1" dirty="0"/>
              <a:t>Interopérabilité :</a:t>
            </a:r>
            <a:r>
              <a:rPr lang="fr-FR" dirty="0"/>
              <a:t> QGIS prend en charge une grande variété de formats de données géographiques et peut interagir avec d'autres logiciels SIG et bases de données, ce qui facilite l'intégration dans les flux de travail existants.</a:t>
            </a:r>
          </a:p>
          <a:p>
            <a:r>
              <a:rPr lang="fr-FR" b="1" dirty="0"/>
              <a:t>Désavantages de QGIS par rapport à ArcGIS :</a:t>
            </a:r>
            <a:endParaRPr lang="fr-FR" dirty="0"/>
          </a:p>
          <a:p>
            <a:pPr>
              <a:buFont typeface="+mj-lt"/>
              <a:buAutoNum type="arabicPeriod"/>
            </a:pPr>
            <a:r>
              <a:rPr lang="fr-FR" b="1" dirty="0"/>
              <a:t>Fonctionnalités avancées :</a:t>
            </a:r>
            <a:r>
              <a:rPr lang="fr-FR" dirty="0"/>
              <a:t> ArcGIS offre généralement un ensemble plus large de fonctionnalités avancées et spécialisées, notamment dans les domaines de l'analyse spatiale, de la modélisation 3D et de la gestion de données volumineuses.</a:t>
            </a:r>
          </a:p>
          <a:p>
            <a:pPr>
              <a:buFont typeface="+mj-lt"/>
              <a:buAutoNum type="arabicPeriod"/>
            </a:pPr>
            <a:r>
              <a:rPr lang="fr-FR" b="1" dirty="0"/>
              <a:t>Interface utilisateur :</a:t>
            </a:r>
            <a:r>
              <a:rPr lang="fr-FR" dirty="0"/>
              <a:t> Certaines personnes trouvent l'interface utilisateur d'ArcGIS plus conviviale et intuitive que celle de QGIS, bien que cela puisse dépendre de la préférence personnelle et de l'expérience de l'utilisateur.</a:t>
            </a:r>
          </a:p>
          <a:p>
            <a:pPr>
              <a:buFont typeface="+mj-lt"/>
              <a:buAutoNum type="arabicPeriod"/>
            </a:pPr>
            <a:r>
              <a:rPr lang="fr-FR" b="1" dirty="0"/>
              <a:t>Support professionnel :</a:t>
            </a:r>
            <a:r>
              <a:rPr lang="fr-FR" dirty="0"/>
              <a:t> ArcGIS est soutenu par </a:t>
            </a:r>
            <a:r>
              <a:rPr lang="fr-FR" dirty="0" err="1"/>
              <a:t>Esri</a:t>
            </a:r>
            <a:r>
              <a:rPr lang="fr-FR" dirty="0"/>
              <a:t>, une société leader dans le domaine des SIG, offrant un support technique professionnel, une formation et des services de conseil qui peuvent être nécessaires pour les grandes organisations ou les projets critiques.</a:t>
            </a:r>
          </a:p>
          <a:p>
            <a:pPr>
              <a:buFont typeface="+mj-lt"/>
              <a:buAutoNum type="arabicPeriod"/>
            </a:pPr>
            <a:r>
              <a:rPr lang="fr-FR" b="1" dirty="0"/>
              <a:t>Performance :</a:t>
            </a:r>
            <a:r>
              <a:rPr lang="fr-FR" dirty="0"/>
              <a:t> Dans certains cas, ArcGIS peut offrir des performances supérieures pour le traitement de grands ensembles de données ou pour des tâches spécifiques, en particulier sur des systèmes optimisés pour ses fonctionnalités.</a:t>
            </a:r>
          </a:p>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7</a:t>
            </a:fld>
            <a:endParaRPr lang="fr-CH"/>
          </a:p>
        </p:txBody>
      </p:sp>
    </p:spTree>
    <p:extLst>
      <p:ext uri="{BB962C8B-B14F-4D97-AF65-F5344CB8AC3E}">
        <p14:creationId xmlns:p14="http://schemas.microsoft.com/office/powerpoint/2010/main" val="1355935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8</a:t>
            </a:fld>
            <a:endParaRPr lang="fr-CH"/>
          </a:p>
        </p:txBody>
      </p:sp>
    </p:spTree>
    <p:extLst>
      <p:ext uri="{BB962C8B-B14F-4D97-AF65-F5344CB8AC3E}">
        <p14:creationId xmlns:p14="http://schemas.microsoft.com/office/powerpoint/2010/main" val="3351050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9</a:t>
            </a:fld>
            <a:endParaRPr lang="fr-CH"/>
          </a:p>
        </p:txBody>
      </p:sp>
    </p:spTree>
    <p:extLst>
      <p:ext uri="{BB962C8B-B14F-4D97-AF65-F5344CB8AC3E}">
        <p14:creationId xmlns:p14="http://schemas.microsoft.com/office/powerpoint/2010/main" val="785943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10</a:t>
            </a:fld>
            <a:endParaRPr lang="fr-CH"/>
          </a:p>
        </p:txBody>
      </p:sp>
    </p:spTree>
    <p:extLst>
      <p:ext uri="{BB962C8B-B14F-4D97-AF65-F5344CB8AC3E}">
        <p14:creationId xmlns:p14="http://schemas.microsoft.com/office/powerpoint/2010/main" val="2858089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11</a:t>
            </a:fld>
            <a:endParaRPr lang="fr-CH"/>
          </a:p>
        </p:txBody>
      </p:sp>
    </p:spTree>
    <p:extLst>
      <p:ext uri="{BB962C8B-B14F-4D97-AF65-F5344CB8AC3E}">
        <p14:creationId xmlns:p14="http://schemas.microsoft.com/office/powerpoint/2010/main" val="2218030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12</a:t>
            </a:fld>
            <a:endParaRPr lang="fr-CH"/>
          </a:p>
        </p:txBody>
      </p:sp>
    </p:spTree>
    <p:extLst>
      <p:ext uri="{BB962C8B-B14F-4D97-AF65-F5344CB8AC3E}">
        <p14:creationId xmlns:p14="http://schemas.microsoft.com/office/powerpoint/2010/main" val="2698623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13</a:t>
            </a:fld>
            <a:endParaRPr lang="fr-CH"/>
          </a:p>
        </p:txBody>
      </p:sp>
    </p:spTree>
    <p:extLst>
      <p:ext uri="{BB962C8B-B14F-4D97-AF65-F5344CB8AC3E}">
        <p14:creationId xmlns:p14="http://schemas.microsoft.com/office/powerpoint/2010/main" val="791946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14</a:t>
            </a:fld>
            <a:endParaRPr lang="fr-CH"/>
          </a:p>
        </p:txBody>
      </p:sp>
    </p:spTree>
    <p:extLst>
      <p:ext uri="{BB962C8B-B14F-4D97-AF65-F5344CB8AC3E}">
        <p14:creationId xmlns:p14="http://schemas.microsoft.com/office/powerpoint/2010/main" val="4109699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15</a:t>
            </a:fld>
            <a:endParaRPr lang="fr-CH"/>
          </a:p>
        </p:txBody>
      </p:sp>
    </p:spTree>
    <p:extLst>
      <p:ext uri="{BB962C8B-B14F-4D97-AF65-F5344CB8AC3E}">
        <p14:creationId xmlns:p14="http://schemas.microsoft.com/office/powerpoint/2010/main" val="3536607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16</a:t>
            </a:fld>
            <a:endParaRPr lang="fr-CH"/>
          </a:p>
        </p:txBody>
      </p:sp>
    </p:spTree>
    <p:extLst>
      <p:ext uri="{BB962C8B-B14F-4D97-AF65-F5344CB8AC3E}">
        <p14:creationId xmlns:p14="http://schemas.microsoft.com/office/powerpoint/2010/main" val="650817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17</a:t>
            </a:fld>
            <a:endParaRPr lang="fr-CH"/>
          </a:p>
        </p:txBody>
      </p:sp>
    </p:spTree>
    <p:extLst>
      <p:ext uri="{BB962C8B-B14F-4D97-AF65-F5344CB8AC3E}">
        <p14:creationId xmlns:p14="http://schemas.microsoft.com/office/powerpoint/2010/main" val="444999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18</a:t>
            </a:fld>
            <a:endParaRPr lang="fr-CH"/>
          </a:p>
        </p:txBody>
      </p:sp>
    </p:spTree>
    <p:extLst>
      <p:ext uri="{BB962C8B-B14F-4D97-AF65-F5344CB8AC3E}">
        <p14:creationId xmlns:p14="http://schemas.microsoft.com/office/powerpoint/2010/main" val="3047487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19</a:t>
            </a:fld>
            <a:endParaRPr lang="fr-CH"/>
          </a:p>
        </p:txBody>
      </p:sp>
    </p:spTree>
    <p:extLst>
      <p:ext uri="{BB962C8B-B14F-4D97-AF65-F5344CB8AC3E}">
        <p14:creationId xmlns:p14="http://schemas.microsoft.com/office/powerpoint/2010/main" val="471539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20</a:t>
            </a:fld>
            <a:endParaRPr lang="fr-CH"/>
          </a:p>
        </p:txBody>
      </p:sp>
    </p:spTree>
    <p:extLst>
      <p:ext uri="{BB962C8B-B14F-4D97-AF65-F5344CB8AC3E}">
        <p14:creationId xmlns:p14="http://schemas.microsoft.com/office/powerpoint/2010/main" val="1929927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21</a:t>
            </a:fld>
            <a:endParaRPr lang="fr-CH"/>
          </a:p>
        </p:txBody>
      </p:sp>
    </p:spTree>
    <p:extLst>
      <p:ext uri="{BB962C8B-B14F-4D97-AF65-F5344CB8AC3E}">
        <p14:creationId xmlns:p14="http://schemas.microsoft.com/office/powerpoint/2010/main" val="40097095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22</a:t>
            </a:fld>
            <a:endParaRPr lang="fr-CH"/>
          </a:p>
        </p:txBody>
      </p:sp>
    </p:spTree>
    <p:extLst>
      <p:ext uri="{BB962C8B-B14F-4D97-AF65-F5344CB8AC3E}">
        <p14:creationId xmlns:p14="http://schemas.microsoft.com/office/powerpoint/2010/main" val="31307451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23</a:t>
            </a:fld>
            <a:endParaRPr lang="fr-CH"/>
          </a:p>
        </p:txBody>
      </p:sp>
    </p:spTree>
    <p:extLst>
      <p:ext uri="{BB962C8B-B14F-4D97-AF65-F5344CB8AC3E}">
        <p14:creationId xmlns:p14="http://schemas.microsoft.com/office/powerpoint/2010/main" val="14427629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24</a:t>
            </a:fld>
            <a:endParaRPr lang="fr-CH"/>
          </a:p>
        </p:txBody>
      </p:sp>
    </p:spTree>
    <p:extLst>
      <p:ext uri="{BB962C8B-B14F-4D97-AF65-F5344CB8AC3E}">
        <p14:creationId xmlns:p14="http://schemas.microsoft.com/office/powerpoint/2010/main" val="3435709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25</a:t>
            </a:fld>
            <a:endParaRPr lang="fr-CH"/>
          </a:p>
        </p:txBody>
      </p:sp>
    </p:spTree>
    <p:extLst>
      <p:ext uri="{BB962C8B-B14F-4D97-AF65-F5344CB8AC3E}">
        <p14:creationId xmlns:p14="http://schemas.microsoft.com/office/powerpoint/2010/main" val="2874964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26</a:t>
            </a:fld>
            <a:endParaRPr lang="fr-CH"/>
          </a:p>
        </p:txBody>
      </p:sp>
    </p:spTree>
    <p:extLst>
      <p:ext uri="{BB962C8B-B14F-4D97-AF65-F5344CB8AC3E}">
        <p14:creationId xmlns:p14="http://schemas.microsoft.com/office/powerpoint/2010/main" val="19545941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27</a:t>
            </a:fld>
            <a:endParaRPr lang="fr-CH"/>
          </a:p>
        </p:txBody>
      </p:sp>
    </p:spTree>
    <p:extLst>
      <p:ext uri="{BB962C8B-B14F-4D97-AF65-F5344CB8AC3E}">
        <p14:creationId xmlns:p14="http://schemas.microsoft.com/office/powerpoint/2010/main" val="9517299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28</a:t>
            </a:fld>
            <a:endParaRPr lang="fr-CH"/>
          </a:p>
        </p:txBody>
      </p:sp>
    </p:spTree>
    <p:extLst>
      <p:ext uri="{BB962C8B-B14F-4D97-AF65-F5344CB8AC3E}">
        <p14:creationId xmlns:p14="http://schemas.microsoft.com/office/powerpoint/2010/main" val="20715339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29</a:t>
            </a:fld>
            <a:endParaRPr lang="fr-CH"/>
          </a:p>
        </p:txBody>
      </p:sp>
    </p:spTree>
    <p:extLst>
      <p:ext uri="{BB962C8B-B14F-4D97-AF65-F5344CB8AC3E}">
        <p14:creationId xmlns:p14="http://schemas.microsoft.com/office/powerpoint/2010/main" val="1620545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30</a:t>
            </a:fld>
            <a:endParaRPr lang="fr-CH"/>
          </a:p>
        </p:txBody>
      </p:sp>
    </p:spTree>
    <p:extLst>
      <p:ext uri="{BB962C8B-B14F-4D97-AF65-F5344CB8AC3E}">
        <p14:creationId xmlns:p14="http://schemas.microsoft.com/office/powerpoint/2010/main" val="10049892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31</a:t>
            </a:fld>
            <a:endParaRPr lang="fr-CH"/>
          </a:p>
        </p:txBody>
      </p:sp>
    </p:spTree>
    <p:extLst>
      <p:ext uri="{BB962C8B-B14F-4D97-AF65-F5344CB8AC3E}">
        <p14:creationId xmlns:p14="http://schemas.microsoft.com/office/powerpoint/2010/main" val="5377802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32</a:t>
            </a:fld>
            <a:endParaRPr lang="fr-CH"/>
          </a:p>
        </p:txBody>
      </p:sp>
    </p:spTree>
    <p:extLst>
      <p:ext uri="{BB962C8B-B14F-4D97-AF65-F5344CB8AC3E}">
        <p14:creationId xmlns:p14="http://schemas.microsoft.com/office/powerpoint/2010/main" val="10932207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33</a:t>
            </a:fld>
            <a:endParaRPr lang="fr-CH"/>
          </a:p>
        </p:txBody>
      </p:sp>
    </p:spTree>
    <p:extLst>
      <p:ext uri="{BB962C8B-B14F-4D97-AF65-F5344CB8AC3E}">
        <p14:creationId xmlns:p14="http://schemas.microsoft.com/office/powerpoint/2010/main" val="4685476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34</a:t>
            </a:fld>
            <a:endParaRPr lang="fr-CH"/>
          </a:p>
        </p:txBody>
      </p:sp>
    </p:spTree>
    <p:extLst>
      <p:ext uri="{BB962C8B-B14F-4D97-AF65-F5344CB8AC3E}">
        <p14:creationId xmlns:p14="http://schemas.microsoft.com/office/powerpoint/2010/main" val="24670669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35</a:t>
            </a:fld>
            <a:endParaRPr lang="fr-CH"/>
          </a:p>
        </p:txBody>
      </p:sp>
    </p:spTree>
    <p:extLst>
      <p:ext uri="{BB962C8B-B14F-4D97-AF65-F5344CB8AC3E}">
        <p14:creationId xmlns:p14="http://schemas.microsoft.com/office/powerpoint/2010/main" val="40094164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36</a:t>
            </a:fld>
            <a:endParaRPr lang="fr-CH"/>
          </a:p>
        </p:txBody>
      </p:sp>
    </p:spTree>
    <p:extLst>
      <p:ext uri="{BB962C8B-B14F-4D97-AF65-F5344CB8AC3E}">
        <p14:creationId xmlns:p14="http://schemas.microsoft.com/office/powerpoint/2010/main" val="23034551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37</a:t>
            </a:fld>
            <a:endParaRPr lang="fr-CH"/>
          </a:p>
        </p:txBody>
      </p:sp>
    </p:spTree>
    <p:extLst>
      <p:ext uri="{BB962C8B-B14F-4D97-AF65-F5344CB8AC3E}">
        <p14:creationId xmlns:p14="http://schemas.microsoft.com/office/powerpoint/2010/main" val="827663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38</a:t>
            </a:fld>
            <a:endParaRPr lang="fr-CH"/>
          </a:p>
        </p:txBody>
      </p:sp>
    </p:spTree>
    <p:extLst>
      <p:ext uri="{BB962C8B-B14F-4D97-AF65-F5344CB8AC3E}">
        <p14:creationId xmlns:p14="http://schemas.microsoft.com/office/powerpoint/2010/main" val="1877708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39</a:t>
            </a:fld>
            <a:endParaRPr lang="fr-CH"/>
          </a:p>
        </p:txBody>
      </p:sp>
    </p:spTree>
    <p:extLst>
      <p:ext uri="{BB962C8B-B14F-4D97-AF65-F5344CB8AC3E}">
        <p14:creationId xmlns:p14="http://schemas.microsoft.com/office/powerpoint/2010/main" val="22905426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40</a:t>
            </a:fld>
            <a:endParaRPr lang="fr-CH"/>
          </a:p>
        </p:txBody>
      </p:sp>
    </p:spTree>
    <p:extLst>
      <p:ext uri="{BB962C8B-B14F-4D97-AF65-F5344CB8AC3E}">
        <p14:creationId xmlns:p14="http://schemas.microsoft.com/office/powerpoint/2010/main" val="14078283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41</a:t>
            </a:fld>
            <a:endParaRPr lang="fr-CH"/>
          </a:p>
        </p:txBody>
      </p:sp>
    </p:spTree>
    <p:extLst>
      <p:ext uri="{BB962C8B-B14F-4D97-AF65-F5344CB8AC3E}">
        <p14:creationId xmlns:p14="http://schemas.microsoft.com/office/powerpoint/2010/main" val="7164282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42</a:t>
            </a:fld>
            <a:endParaRPr lang="fr-CH"/>
          </a:p>
        </p:txBody>
      </p:sp>
    </p:spTree>
    <p:extLst>
      <p:ext uri="{BB962C8B-B14F-4D97-AF65-F5344CB8AC3E}">
        <p14:creationId xmlns:p14="http://schemas.microsoft.com/office/powerpoint/2010/main" val="25296886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43</a:t>
            </a:fld>
            <a:endParaRPr lang="fr-CH"/>
          </a:p>
        </p:txBody>
      </p:sp>
    </p:spTree>
    <p:extLst>
      <p:ext uri="{BB962C8B-B14F-4D97-AF65-F5344CB8AC3E}">
        <p14:creationId xmlns:p14="http://schemas.microsoft.com/office/powerpoint/2010/main" val="24048283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H" dirty="0"/>
          </a:p>
        </p:txBody>
      </p:sp>
      <p:sp>
        <p:nvSpPr>
          <p:cNvPr id="4" name="Espace réservé du numéro de diapositive 3"/>
          <p:cNvSpPr>
            <a:spLocks noGrp="1"/>
          </p:cNvSpPr>
          <p:nvPr>
            <p:ph type="sldNum" sz="quarter" idx="5"/>
          </p:nvPr>
        </p:nvSpPr>
        <p:spPr/>
        <p:txBody>
          <a:bodyPr/>
          <a:lstStyle/>
          <a:p>
            <a:fld id="{20413771-3421-4691-A5D9-6B93A8F17E5F}" type="slidenum">
              <a:rPr lang="fr-CH" smtClean="0"/>
              <a:t>44</a:t>
            </a:fld>
            <a:endParaRPr lang="fr-CH"/>
          </a:p>
        </p:txBody>
      </p:sp>
    </p:spTree>
    <p:extLst>
      <p:ext uri="{BB962C8B-B14F-4D97-AF65-F5344CB8AC3E}">
        <p14:creationId xmlns:p14="http://schemas.microsoft.com/office/powerpoint/2010/main" val="25362359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9E0015E3-CCA9-E31A-AAC6-F3B2F82A82A8}"/>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4" name="Espace réservé du pied de page 3">
            <a:extLst>
              <a:ext uri="{FF2B5EF4-FFF2-40B4-BE49-F238E27FC236}">
                <a16:creationId xmlns:a16="http://schemas.microsoft.com/office/drawing/2014/main" id="{DC49125E-2A20-D13D-789D-C4652F729E2C}"/>
              </a:ext>
            </a:extLst>
          </p:cNvPr>
          <p:cNvSpPr>
            <a:spLocks noGrp="1"/>
          </p:cNvSpPr>
          <p:nvPr>
            <p:ph type="ftr" sz="quarter" idx="11"/>
          </p:nvPr>
        </p:nvSpPr>
        <p:spPr/>
        <p:txBody>
          <a:bodyPr/>
          <a:lstStyle/>
          <a:p>
            <a:endParaRPr lang="fr-CH"/>
          </a:p>
        </p:txBody>
      </p:sp>
      <p:sp>
        <p:nvSpPr>
          <p:cNvPr id="5" name="Espace réservé du numéro de diapositive 4">
            <a:extLst>
              <a:ext uri="{FF2B5EF4-FFF2-40B4-BE49-F238E27FC236}">
                <a16:creationId xmlns:a16="http://schemas.microsoft.com/office/drawing/2014/main" id="{7AF92E3E-B2AD-D67A-BAF7-D2D56D8166A7}"/>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23167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05A6BBE2-31BF-8FDC-3DCD-8EA9AAFC8F5F}"/>
              </a:ext>
            </a:extLst>
          </p:cNvPr>
          <p:cNvSpPr>
            <a:spLocks noGrp="1"/>
          </p:cNvSpPr>
          <p:nvPr>
            <p:ph type="title" hasCustomPrompt="1"/>
          </p:nvPr>
        </p:nvSpPr>
        <p:spPr>
          <a:xfrm>
            <a:off x="774358" y="133891"/>
            <a:ext cx="11313368" cy="1325563"/>
          </a:xfrm>
          <a:prstGeom prst="rect">
            <a:avLst/>
          </a:prstGeom>
        </p:spPr>
        <p:txBody>
          <a:bodyPr vert="horz" lIns="91440" tIns="45720" rIns="91440" bIns="45720" rtlCol="0">
            <a:normAutofit/>
          </a:bodyPr>
          <a:lstStyle>
            <a:lvl1pPr>
              <a:defRPr lang="fr-CH" sz="2400" dirty="0">
                <a:solidFill>
                  <a:schemeClr val="tx1">
                    <a:tint val="75000"/>
                  </a:schemeClr>
                </a:solidFill>
                <a:latin typeface="Tahoma" pitchFamily="34" charset="0"/>
                <a:ea typeface="+mn-ea"/>
                <a:cs typeface="Tahoma" pitchFamily="34" charset="0"/>
              </a:defRPr>
            </a:lvl1pPr>
          </a:lstStyle>
          <a:p>
            <a:pPr marL="0" lvl="0" indent="0">
              <a:spcBef>
                <a:spcPct val="20000"/>
              </a:spcBef>
              <a:buFont typeface="Arial" pitchFamily="34" charset="0"/>
            </a:pPr>
            <a:r>
              <a:rPr lang="fr-FR" dirty="0"/>
              <a:t>Titre 1</a:t>
            </a:r>
            <a:br>
              <a:rPr lang="fr-FR" dirty="0"/>
            </a:br>
            <a:r>
              <a:rPr lang="fr-FR" sz="2000" dirty="0"/>
              <a:t>Titre 2</a:t>
            </a:r>
            <a:endParaRPr lang="fr-CH" dirty="0"/>
          </a:p>
        </p:txBody>
      </p:sp>
      <p:sp>
        <p:nvSpPr>
          <p:cNvPr id="2" name="Espace réservé de la date 1">
            <a:extLst>
              <a:ext uri="{FF2B5EF4-FFF2-40B4-BE49-F238E27FC236}">
                <a16:creationId xmlns:a16="http://schemas.microsoft.com/office/drawing/2014/main" id="{14E0CAD9-657D-599D-3909-C272E127A565}"/>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3" name="Espace réservé du pied de page 2">
            <a:extLst>
              <a:ext uri="{FF2B5EF4-FFF2-40B4-BE49-F238E27FC236}">
                <a16:creationId xmlns:a16="http://schemas.microsoft.com/office/drawing/2014/main" id="{6AA3ACAE-47E5-1B37-5D56-2C9DB32C9E51}"/>
              </a:ext>
            </a:extLst>
          </p:cNvPr>
          <p:cNvSpPr>
            <a:spLocks noGrp="1"/>
          </p:cNvSpPr>
          <p:nvPr>
            <p:ph type="ftr" sz="quarter" idx="11"/>
          </p:nvPr>
        </p:nvSpPr>
        <p:spPr/>
        <p:txBody>
          <a:bodyPr/>
          <a:lstStyle/>
          <a:p>
            <a:endParaRPr lang="fr-CH"/>
          </a:p>
        </p:txBody>
      </p:sp>
      <p:sp>
        <p:nvSpPr>
          <p:cNvPr id="4" name="Espace réservé du numéro de diapositive 3">
            <a:extLst>
              <a:ext uri="{FF2B5EF4-FFF2-40B4-BE49-F238E27FC236}">
                <a16:creationId xmlns:a16="http://schemas.microsoft.com/office/drawing/2014/main" id="{5034500A-EAE3-3A0A-2180-9D16C2887609}"/>
              </a:ext>
            </a:extLst>
          </p:cNvPr>
          <p:cNvSpPr>
            <a:spLocks noGrp="1"/>
          </p:cNvSpPr>
          <p:nvPr>
            <p:ph type="sldNum" sz="quarter" idx="12"/>
          </p:nvPr>
        </p:nvSpPr>
        <p:spPr/>
        <p:txBody>
          <a:bodyPr/>
          <a:lstStyle/>
          <a:p>
            <a:fld id="{C8B46024-29D6-4676-BB6C-90A01F5DF038}" type="slidenum">
              <a:rPr lang="fr-CH" smtClean="0"/>
              <a:t>‹N°›</a:t>
            </a:fld>
            <a:endParaRPr lang="fr-CH"/>
          </a:p>
        </p:txBody>
      </p:sp>
      <p:sp>
        <p:nvSpPr>
          <p:cNvPr id="5" name="Espace réservé du contenu 5">
            <a:extLst>
              <a:ext uri="{FF2B5EF4-FFF2-40B4-BE49-F238E27FC236}">
                <a16:creationId xmlns:a16="http://schemas.microsoft.com/office/drawing/2014/main" id="{649BF34D-E945-9444-0F96-F1936666ABA7}"/>
              </a:ext>
            </a:extLst>
          </p:cNvPr>
          <p:cNvSpPr txBox="1">
            <a:spLocks/>
          </p:cNvSpPr>
          <p:nvPr userDrawn="1"/>
        </p:nvSpPr>
        <p:spPr>
          <a:xfrm>
            <a:off x="342558" y="-2075287"/>
            <a:ext cx="11100142" cy="110674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fr-CH" sz="2400" dirty="0">
                <a:latin typeface="Tahoma" panose="020B0604030504040204" pitchFamily="34" charset="0"/>
                <a:ea typeface="Tahoma" panose="020B0604030504040204" pitchFamily="34" charset="0"/>
                <a:cs typeface="Tahoma" panose="020B0604030504040204" pitchFamily="34" charset="0"/>
              </a:rPr>
              <a:t>Titre 1</a:t>
            </a:r>
          </a:p>
          <a:p>
            <a:pPr algn="l"/>
            <a:r>
              <a:rPr lang="fr-CH" sz="2000" dirty="0">
                <a:latin typeface="Tahoma" panose="020B0604030504040204" pitchFamily="34" charset="0"/>
                <a:ea typeface="Tahoma" panose="020B0604030504040204" pitchFamily="34" charset="0"/>
                <a:cs typeface="Tahoma" panose="020B0604030504040204" pitchFamily="34" charset="0"/>
              </a:rPr>
              <a:t>Titre 2</a:t>
            </a:r>
          </a:p>
        </p:txBody>
      </p:sp>
      <p:sp>
        <p:nvSpPr>
          <p:cNvPr id="10" name="Espace réservé du texte 9">
            <a:extLst>
              <a:ext uri="{FF2B5EF4-FFF2-40B4-BE49-F238E27FC236}">
                <a16:creationId xmlns:a16="http://schemas.microsoft.com/office/drawing/2014/main" id="{A184A560-CF0D-76EA-C7F0-7BEDD4CC2BD1}"/>
              </a:ext>
            </a:extLst>
          </p:cNvPr>
          <p:cNvSpPr>
            <a:spLocks noGrp="1"/>
          </p:cNvSpPr>
          <p:nvPr>
            <p:ph type="body" sz="quarter" idx="13"/>
          </p:nvPr>
        </p:nvSpPr>
        <p:spPr>
          <a:xfrm>
            <a:off x="774358" y="1302417"/>
            <a:ext cx="11313368" cy="1668462"/>
          </a:xfrm>
          <a:prstGeom prst="rect">
            <a:avLst/>
          </a:prstGeom>
        </p:spPr>
        <p:txBody>
          <a:bodyPr/>
          <a:lstStyle>
            <a:lvl1pPr>
              <a:defRPr sz="240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H" dirty="0"/>
          </a:p>
        </p:txBody>
      </p:sp>
    </p:spTree>
    <p:extLst>
      <p:ext uri="{BB962C8B-B14F-4D97-AF65-F5344CB8AC3E}">
        <p14:creationId xmlns:p14="http://schemas.microsoft.com/office/powerpoint/2010/main" val="59914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A588605D-FFD8-7DB7-C671-F7A083C96EDC}"/>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0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H"/>
          </a:p>
        </p:txBody>
      </p:sp>
      <p:sp>
        <p:nvSpPr>
          <p:cNvPr id="4" name="Espace réservé de la date 3">
            <a:extLst>
              <a:ext uri="{FF2B5EF4-FFF2-40B4-BE49-F238E27FC236}">
                <a16:creationId xmlns:a16="http://schemas.microsoft.com/office/drawing/2014/main" id="{01DAD4F5-C254-21E0-4CC1-77171363FD85}"/>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5" name="Espace réservé du pied de page 4">
            <a:extLst>
              <a:ext uri="{FF2B5EF4-FFF2-40B4-BE49-F238E27FC236}">
                <a16:creationId xmlns:a16="http://schemas.microsoft.com/office/drawing/2014/main" id="{6FDA3C3A-1406-F7F2-DB9E-7B0B33625E02}"/>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A5EFDA2D-4C4A-C62C-9BA0-8B9C9E390675}"/>
              </a:ext>
            </a:extLst>
          </p:cNvPr>
          <p:cNvSpPr>
            <a:spLocks noGrp="1"/>
          </p:cNvSpPr>
          <p:nvPr>
            <p:ph type="sldNum" sz="quarter" idx="12"/>
          </p:nvPr>
        </p:nvSpPr>
        <p:spPr/>
        <p:txBody>
          <a:bodyPr/>
          <a:lstStyle/>
          <a:p>
            <a:fld id="{C8B46024-29D6-4676-BB6C-90A01F5DF038}" type="slidenum">
              <a:rPr lang="fr-CH" smtClean="0"/>
              <a:t>‹N°›</a:t>
            </a:fld>
            <a:endParaRPr lang="fr-CH"/>
          </a:p>
        </p:txBody>
      </p:sp>
      <p:sp>
        <p:nvSpPr>
          <p:cNvPr id="9" name="Titre 8">
            <a:extLst>
              <a:ext uri="{FF2B5EF4-FFF2-40B4-BE49-F238E27FC236}">
                <a16:creationId xmlns:a16="http://schemas.microsoft.com/office/drawing/2014/main" id="{324C5D28-E377-3BE2-83A2-648F94E7E758}"/>
              </a:ext>
            </a:extLst>
          </p:cNvPr>
          <p:cNvSpPr>
            <a:spLocks noGrp="1"/>
          </p:cNvSpPr>
          <p:nvPr>
            <p:ph type="title"/>
          </p:nvPr>
        </p:nvSpPr>
        <p:spPr>
          <a:xfrm>
            <a:off x="838200" y="365125"/>
            <a:ext cx="10515600" cy="1325563"/>
          </a:xfrm>
          <a:prstGeom prst="rect">
            <a:avLst/>
          </a:prstGeom>
        </p:spPr>
        <p:txBody>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fr-FR" dirty="0"/>
              <a:t>Modifiez le style du titre</a:t>
            </a:r>
            <a:endParaRPr lang="fr-CH" dirty="0"/>
          </a:p>
        </p:txBody>
      </p:sp>
    </p:spTree>
    <p:extLst>
      <p:ext uri="{BB962C8B-B14F-4D97-AF65-F5344CB8AC3E}">
        <p14:creationId xmlns:p14="http://schemas.microsoft.com/office/powerpoint/2010/main" val="2958073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1D236FA-60AC-54AE-0436-5DD238753FC4}"/>
              </a:ext>
            </a:extLst>
          </p:cNvPr>
          <p:cNvSpPr>
            <a:spLocks noGrp="1"/>
          </p:cNvSpPr>
          <p:nvPr>
            <p:ph idx="1"/>
          </p:nvPr>
        </p:nvSpPr>
        <p:spPr>
          <a:xfrm>
            <a:off x="810126" y="3630362"/>
            <a:ext cx="10515600" cy="4351338"/>
          </a:xfrm>
          <a:prstGeom prst="rect">
            <a:avLst/>
          </a:prstGeo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H" dirty="0"/>
          </a:p>
        </p:txBody>
      </p:sp>
      <p:sp>
        <p:nvSpPr>
          <p:cNvPr id="7" name="Titre 6">
            <a:extLst>
              <a:ext uri="{FF2B5EF4-FFF2-40B4-BE49-F238E27FC236}">
                <a16:creationId xmlns:a16="http://schemas.microsoft.com/office/drawing/2014/main" id="{A602624F-F87A-AF3A-A166-78AB4ECD7DAE}"/>
              </a:ext>
            </a:extLst>
          </p:cNvPr>
          <p:cNvSpPr>
            <a:spLocks noGrp="1"/>
          </p:cNvSpPr>
          <p:nvPr>
            <p:ph type="title"/>
          </p:nvPr>
        </p:nvSpPr>
        <p:spPr>
          <a:xfrm>
            <a:off x="838200" y="365125"/>
            <a:ext cx="10515600" cy="1325563"/>
          </a:xfrm>
          <a:prstGeom prst="rect">
            <a:avLst/>
          </a:prstGeom>
        </p:spPr>
        <p:txBody>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fr-FR" dirty="0"/>
              <a:t>Modifiez le style du titre</a:t>
            </a:r>
            <a:endParaRPr lang="fr-CH" dirty="0"/>
          </a:p>
        </p:txBody>
      </p:sp>
    </p:spTree>
    <p:extLst>
      <p:ext uri="{BB962C8B-B14F-4D97-AF65-F5344CB8AC3E}">
        <p14:creationId xmlns:p14="http://schemas.microsoft.com/office/powerpoint/2010/main" val="2209935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5B9A4F-31B9-A85D-ECC3-4A9AFB294CB3}"/>
              </a:ext>
            </a:extLst>
          </p:cNvPr>
          <p:cNvSpPr>
            <a:spLocks noGrp="1"/>
          </p:cNvSpPr>
          <p:nvPr>
            <p:ph type="title"/>
          </p:nvPr>
        </p:nvSpPr>
        <p:spPr>
          <a:xfrm>
            <a:off x="831850" y="1709738"/>
            <a:ext cx="10515600" cy="2852737"/>
          </a:xfrm>
          <a:prstGeom prst="rect">
            <a:avLst/>
          </a:prstGeom>
        </p:spPr>
        <p:txBody>
          <a:bodyPr anchor="t"/>
          <a:lstStyle>
            <a:lvl1pPr algn="ctr">
              <a:defRPr sz="4800">
                <a:latin typeface="Tahoma" panose="020B0604030504040204" pitchFamily="34" charset="0"/>
                <a:ea typeface="Tahoma" panose="020B0604030504040204" pitchFamily="34" charset="0"/>
                <a:cs typeface="Tahoma" panose="020B0604030504040204" pitchFamily="34" charset="0"/>
              </a:defRPr>
            </a:lvl1pPr>
          </a:lstStyle>
          <a:p>
            <a:r>
              <a:rPr lang="fr-FR"/>
              <a:t>Modifiez le style du titre</a:t>
            </a:r>
            <a:endParaRPr lang="fr-CH"/>
          </a:p>
        </p:txBody>
      </p:sp>
      <p:sp>
        <p:nvSpPr>
          <p:cNvPr id="3" name="Espace réservé du texte 2">
            <a:extLst>
              <a:ext uri="{FF2B5EF4-FFF2-40B4-BE49-F238E27FC236}">
                <a16:creationId xmlns:a16="http://schemas.microsoft.com/office/drawing/2014/main" id="{660912AA-F3A3-39ED-7EE2-EF25E7F43252}"/>
              </a:ext>
            </a:extLst>
          </p:cNvPr>
          <p:cNvSpPr>
            <a:spLocks noGrp="1"/>
          </p:cNvSpPr>
          <p:nvPr>
            <p:ph type="body" idx="1"/>
          </p:nvPr>
        </p:nvSpPr>
        <p:spPr>
          <a:xfrm>
            <a:off x="831850" y="2474913"/>
            <a:ext cx="10515600" cy="1500187"/>
          </a:xfrm>
          <a:prstGeom prst="rect">
            <a:avLst/>
          </a:prstGeom>
        </p:spPr>
        <p:txBody>
          <a:bodyPr/>
          <a:lstStyle>
            <a:lvl1pPr marL="0" indent="0" algn="ctr">
              <a:buNone/>
              <a:defRPr sz="20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9B8F5C4-5C88-63A6-6B7A-CFF70AAF0F59}"/>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5" name="Espace réservé du pied de page 4">
            <a:extLst>
              <a:ext uri="{FF2B5EF4-FFF2-40B4-BE49-F238E27FC236}">
                <a16:creationId xmlns:a16="http://schemas.microsoft.com/office/drawing/2014/main" id="{FB642F5F-D5CD-6D2F-8914-97524BFADB43}"/>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AEDAF3F4-E183-669A-6ACE-2E6D58B13705}"/>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3528586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DC2183-50D7-4017-E0B3-ACEF7EFEAAB3}"/>
              </a:ext>
            </a:extLst>
          </p:cNvPr>
          <p:cNvSpPr>
            <a:spLocks noGrp="1"/>
          </p:cNvSpPr>
          <p:nvPr>
            <p:ph type="title"/>
          </p:nvPr>
        </p:nvSpPr>
        <p:spPr>
          <a:xfrm>
            <a:off x="838200" y="365125"/>
            <a:ext cx="10515600" cy="1325563"/>
          </a:xfrm>
          <a:prstGeom prst="rect">
            <a:avLst/>
          </a:prstGeom>
        </p:spPr>
        <p:txBody>
          <a:bodyPr/>
          <a:lstStyle>
            <a:lvl1pPr>
              <a:defRPr sz="4000">
                <a:latin typeface="Tahoma" panose="020B0604030504040204" pitchFamily="34" charset="0"/>
                <a:ea typeface="Tahoma" panose="020B0604030504040204" pitchFamily="34" charset="0"/>
                <a:cs typeface="Tahoma" panose="020B0604030504040204" pitchFamily="34" charset="0"/>
              </a:defRPr>
            </a:lvl1pPr>
          </a:lstStyle>
          <a:p>
            <a:r>
              <a:rPr lang="fr-FR"/>
              <a:t>Modifiez le style du titre</a:t>
            </a:r>
            <a:endParaRPr lang="fr-CH"/>
          </a:p>
        </p:txBody>
      </p:sp>
      <p:sp>
        <p:nvSpPr>
          <p:cNvPr id="3" name="Espace réservé du contenu 2">
            <a:extLst>
              <a:ext uri="{FF2B5EF4-FFF2-40B4-BE49-F238E27FC236}">
                <a16:creationId xmlns:a16="http://schemas.microsoft.com/office/drawing/2014/main" id="{D9E06F42-E175-7D87-7CBD-E13C7EB346A5}"/>
              </a:ext>
            </a:extLst>
          </p:cNvPr>
          <p:cNvSpPr>
            <a:spLocks noGrp="1"/>
          </p:cNvSpPr>
          <p:nvPr>
            <p:ph sz="half" idx="1"/>
          </p:nvPr>
        </p:nvSpPr>
        <p:spPr>
          <a:xfrm>
            <a:off x="838200" y="1825625"/>
            <a:ext cx="5181600" cy="4351338"/>
          </a:xfrm>
          <a:prstGeom prst="rect">
            <a:avLst/>
          </a:prstGeo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H" dirty="0"/>
          </a:p>
        </p:txBody>
      </p:sp>
      <p:sp>
        <p:nvSpPr>
          <p:cNvPr id="4" name="Espace réservé du contenu 3">
            <a:extLst>
              <a:ext uri="{FF2B5EF4-FFF2-40B4-BE49-F238E27FC236}">
                <a16:creationId xmlns:a16="http://schemas.microsoft.com/office/drawing/2014/main" id="{689E919E-13B3-F32A-E63D-331C601DD0B0}"/>
              </a:ext>
            </a:extLst>
          </p:cNvPr>
          <p:cNvSpPr>
            <a:spLocks noGrp="1"/>
          </p:cNvSpPr>
          <p:nvPr>
            <p:ph sz="half" idx="2"/>
          </p:nvPr>
        </p:nvSpPr>
        <p:spPr>
          <a:xfrm>
            <a:off x="6172200" y="1825625"/>
            <a:ext cx="5181600" cy="4351338"/>
          </a:xfrm>
          <a:prstGeom prst="rect">
            <a:avLst/>
          </a:prstGeo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vl2pPr>
              <a:defRPr>
                <a:latin typeface="Tahoma" panose="020B0604030504040204" pitchFamily="34" charset="0"/>
                <a:ea typeface="Tahoma" panose="020B0604030504040204" pitchFamily="34" charset="0"/>
                <a:cs typeface="Tahoma" panose="020B0604030504040204" pitchFamily="34" charset="0"/>
              </a:defRPr>
            </a:lvl2pPr>
            <a:lvl3pPr>
              <a:defRPr>
                <a:latin typeface="Tahoma" panose="020B0604030504040204" pitchFamily="34" charset="0"/>
                <a:ea typeface="Tahoma" panose="020B0604030504040204" pitchFamily="34" charset="0"/>
                <a:cs typeface="Tahoma" panose="020B0604030504040204" pitchFamily="34" charset="0"/>
              </a:defRPr>
            </a:lvl3pPr>
            <a:lvl4pPr>
              <a:defRPr>
                <a:latin typeface="Tahoma" panose="020B0604030504040204" pitchFamily="34" charset="0"/>
                <a:ea typeface="Tahoma" panose="020B0604030504040204" pitchFamily="34" charset="0"/>
                <a:cs typeface="Tahoma" panose="020B0604030504040204" pitchFamily="34" charset="0"/>
              </a:defRPr>
            </a:lvl4pPr>
            <a:lvl5pPr>
              <a:defRPr>
                <a:latin typeface="Tahoma" panose="020B0604030504040204" pitchFamily="34" charset="0"/>
                <a:ea typeface="Tahoma" panose="020B0604030504040204" pitchFamily="34" charset="0"/>
                <a:cs typeface="Tahoma" panose="020B060403050404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H" dirty="0"/>
          </a:p>
        </p:txBody>
      </p:sp>
      <p:sp>
        <p:nvSpPr>
          <p:cNvPr id="5" name="Espace réservé de la date 4">
            <a:extLst>
              <a:ext uri="{FF2B5EF4-FFF2-40B4-BE49-F238E27FC236}">
                <a16:creationId xmlns:a16="http://schemas.microsoft.com/office/drawing/2014/main" id="{67F6EC76-6423-AF4E-E0DE-9943A5648CCC}"/>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6" name="Espace réservé du pied de page 5">
            <a:extLst>
              <a:ext uri="{FF2B5EF4-FFF2-40B4-BE49-F238E27FC236}">
                <a16:creationId xmlns:a16="http://schemas.microsoft.com/office/drawing/2014/main" id="{C7811B4C-C931-318D-D9B1-C65CFD2F4F65}"/>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E71CBF98-57B4-9E07-C895-019EFE835DD9}"/>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4136080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3D3E91-B951-91B7-D3DF-FD4785894D3D}"/>
              </a:ext>
            </a:extLst>
          </p:cNvPr>
          <p:cNvSpPr>
            <a:spLocks noGrp="1"/>
          </p:cNvSpPr>
          <p:nvPr>
            <p:ph type="title"/>
          </p:nvPr>
        </p:nvSpPr>
        <p:spPr>
          <a:xfrm>
            <a:off x="839788" y="365125"/>
            <a:ext cx="10515600" cy="1325563"/>
          </a:xfrm>
          <a:prstGeom prst="rect">
            <a:avLst/>
          </a:prstGeom>
        </p:spPr>
        <p:txBody>
          <a:bodyPr/>
          <a:lstStyle/>
          <a:p>
            <a:r>
              <a:rPr lang="fr-FR"/>
              <a:t>Modifiez le style du titre</a:t>
            </a:r>
            <a:endParaRPr lang="fr-CH"/>
          </a:p>
        </p:txBody>
      </p:sp>
      <p:sp>
        <p:nvSpPr>
          <p:cNvPr id="3" name="Espace réservé du texte 2">
            <a:extLst>
              <a:ext uri="{FF2B5EF4-FFF2-40B4-BE49-F238E27FC236}">
                <a16:creationId xmlns:a16="http://schemas.microsoft.com/office/drawing/2014/main" id="{78454DF4-A0E7-2DAC-3226-18CB4D006016}"/>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45FB237-7041-EF13-A568-8820C9DE9BBB}"/>
              </a:ext>
            </a:extLst>
          </p:cNvPr>
          <p:cNvSpPr>
            <a:spLocks noGrp="1"/>
          </p:cNvSpPr>
          <p:nvPr>
            <p:ph sz="half" idx="2"/>
          </p:nvPr>
        </p:nvSpPr>
        <p:spPr>
          <a:xfrm>
            <a:off x="839788" y="2505075"/>
            <a:ext cx="5157787"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5" name="Espace réservé du texte 4">
            <a:extLst>
              <a:ext uri="{FF2B5EF4-FFF2-40B4-BE49-F238E27FC236}">
                <a16:creationId xmlns:a16="http://schemas.microsoft.com/office/drawing/2014/main" id="{3839EB8B-6C2B-DF38-96AF-CCB61F6589E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633493D-D1B9-F088-5072-43DF6C69213F}"/>
              </a:ext>
            </a:extLst>
          </p:cNvPr>
          <p:cNvSpPr>
            <a:spLocks noGrp="1"/>
          </p:cNvSpPr>
          <p:nvPr>
            <p:ph sz="quarter" idx="4"/>
          </p:nvPr>
        </p:nvSpPr>
        <p:spPr>
          <a:xfrm>
            <a:off x="6172200" y="2505075"/>
            <a:ext cx="5183188"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7" name="Espace réservé de la date 6">
            <a:extLst>
              <a:ext uri="{FF2B5EF4-FFF2-40B4-BE49-F238E27FC236}">
                <a16:creationId xmlns:a16="http://schemas.microsoft.com/office/drawing/2014/main" id="{1E91A887-1608-D084-40E6-AB11148D822F}"/>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8" name="Espace réservé du pied de page 7">
            <a:extLst>
              <a:ext uri="{FF2B5EF4-FFF2-40B4-BE49-F238E27FC236}">
                <a16:creationId xmlns:a16="http://schemas.microsoft.com/office/drawing/2014/main" id="{04BED2B4-985F-6BE4-1369-8B25ACD16F19}"/>
              </a:ext>
            </a:extLst>
          </p:cNvPr>
          <p:cNvSpPr>
            <a:spLocks noGrp="1"/>
          </p:cNvSpPr>
          <p:nvPr>
            <p:ph type="ftr" sz="quarter" idx="11"/>
          </p:nvPr>
        </p:nvSpPr>
        <p:spPr/>
        <p:txBody>
          <a:bodyPr/>
          <a:lstStyle/>
          <a:p>
            <a:endParaRPr lang="fr-CH"/>
          </a:p>
        </p:txBody>
      </p:sp>
      <p:sp>
        <p:nvSpPr>
          <p:cNvPr id="9" name="Espace réservé du numéro de diapositive 8">
            <a:extLst>
              <a:ext uri="{FF2B5EF4-FFF2-40B4-BE49-F238E27FC236}">
                <a16:creationId xmlns:a16="http://schemas.microsoft.com/office/drawing/2014/main" id="{635635B1-94CE-4946-2DE8-EB0F7334767F}"/>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3569756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BD0FE4-56FC-86FC-861E-0B1FE5710B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endParaRPr lang="fr-CH"/>
          </a:p>
        </p:txBody>
      </p:sp>
      <p:sp>
        <p:nvSpPr>
          <p:cNvPr id="3" name="Espace réservé du contenu 2">
            <a:extLst>
              <a:ext uri="{FF2B5EF4-FFF2-40B4-BE49-F238E27FC236}">
                <a16:creationId xmlns:a16="http://schemas.microsoft.com/office/drawing/2014/main" id="{4F577FD0-CC87-DF82-64D5-AFA1912ACB1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u texte 3">
            <a:extLst>
              <a:ext uri="{FF2B5EF4-FFF2-40B4-BE49-F238E27FC236}">
                <a16:creationId xmlns:a16="http://schemas.microsoft.com/office/drawing/2014/main" id="{F373496F-AB4C-2E1F-552D-513BA0D73CF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68BBC4D-7641-1CE7-472E-B5D92C6A7AC8}"/>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6" name="Espace réservé du pied de page 5">
            <a:extLst>
              <a:ext uri="{FF2B5EF4-FFF2-40B4-BE49-F238E27FC236}">
                <a16:creationId xmlns:a16="http://schemas.microsoft.com/office/drawing/2014/main" id="{D17560E0-FEBA-0F62-7A96-6DC7C47CAFC9}"/>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FA71D221-23F8-2225-A187-FEE75B71A017}"/>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725402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3BB282-3829-3AE1-7E0A-500A75710D3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endParaRPr lang="fr-CH"/>
          </a:p>
        </p:txBody>
      </p:sp>
      <p:sp>
        <p:nvSpPr>
          <p:cNvPr id="3" name="Espace réservé pour une image  2">
            <a:extLst>
              <a:ext uri="{FF2B5EF4-FFF2-40B4-BE49-F238E27FC236}">
                <a16:creationId xmlns:a16="http://schemas.microsoft.com/office/drawing/2014/main" id="{C99DBA0A-B023-4D06-B466-5CFCE3FE5543}"/>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Espace réservé du texte 3">
            <a:extLst>
              <a:ext uri="{FF2B5EF4-FFF2-40B4-BE49-F238E27FC236}">
                <a16:creationId xmlns:a16="http://schemas.microsoft.com/office/drawing/2014/main" id="{E9223554-9879-2BC0-941C-631A5F88A46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D66CBA0-0C83-68D0-72AE-946BDAA16314}"/>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6" name="Espace réservé du pied de page 5">
            <a:extLst>
              <a:ext uri="{FF2B5EF4-FFF2-40B4-BE49-F238E27FC236}">
                <a16:creationId xmlns:a16="http://schemas.microsoft.com/office/drawing/2014/main" id="{A4CA8597-E711-008D-AEC2-6E9CC1D9DF00}"/>
              </a:ext>
            </a:extLst>
          </p:cNvPr>
          <p:cNvSpPr>
            <a:spLocks noGrp="1"/>
          </p:cNvSpPr>
          <p:nvPr>
            <p:ph type="ftr" sz="quarter" idx="11"/>
          </p:nvPr>
        </p:nvSpPr>
        <p:spPr/>
        <p:txBody>
          <a:bodyPr/>
          <a:lstStyle/>
          <a:p>
            <a:endParaRPr lang="fr-CH"/>
          </a:p>
        </p:txBody>
      </p:sp>
      <p:sp>
        <p:nvSpPr>
          <p:cNvPr id="7" name="Espace réservé du numéro de diapositive 6">
            <a:extLst>
              <a:ext uri="{FF2B5EF4-FFF2-40B4-BE49-F238E27FC236}">
                <a16:creationId xmlns:a16="http://schemas.microsoft.com/office/drawing/2014/main" id="{9E54A78D-574F-F4F1-3F2D-911F0D3D91FF}"/>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101171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45E7B1-738E-D7BF-8022-71B0091C4E1C}"/>
              </a:ext>
            </a:extLst>
          </p:cNvPr>
          <p:cNvSpPr>
            <a:spLocks noGrp="1"/>
          </p:cNvSpPr>
          <p:nvPr>
            <p:ph type="title"/>
          </p:nvPr>
        </p:nvSpPr>
        <p:spPr>
          <a:xfrm>
            <a:off x="838200" y="365125"/>
            <a:ext cx="10515600" cy="1325563"/>
          </a:xfrm>
          <a:prstGeom prst="rect">
            <a:avLst/>
          </a:prstGeom>
        </p:spPr>
        <p:txBody>
          <a:bodyPr/>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7C81959F-7EC5-CF39-BBBB-1214CDFB9E97}"/>
              </a:ext>
            </a:extLst>
          </p:cNvPr>
          <p:cNvSpPr>
            <a:spLocks noGrp="1"/>
          </p:cNvSpPr>
          <p:nvPr>
            <p:ph type="body" orient="vert" idx="1"/>
          </p:nvPr>
        </p:nvSpPr>
        <p:spPr>
          <a:xfrm>
            <a:off x="810126" y="3630362"/>
            <a:ext cx="105156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548089A4-8D4E-8A47-CEE0-3C73228C857B}"/>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5" name="Espace réservé du pied de page 4">
            <a:extLst>
              <a:ext uri="{FF2B5EF4-FFF2-40B4-BE49-F238E27FC236}">
                <a16:creationId xmlns:a16="http://schemas.microsoft.com/office/drawing/2014/main" id="{8F4098C4-8AEA-BF08-6470-B71E4F8CBBC4}"/>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0EA6DAA7-F9EF-3F9D-EECB-0260E327B564}"/>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2558106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B819D52-A234-D31B-A7F5-78E139ADDBCC}"/>
              </a:ext>
            </a:extLst>
          </p:cNvPr>
          <p:cNvSpPr>
            <a:spLocks noGrp="1"/>
          </p:cNvSpPr>
          <p:nvPr>
            <p:ph type="title" orient="vert"/>
          </p:nvPr>
        </p:nvSpPr>
        <p:spPr>
          <a:xfrm>
            <a:off x="8724900" y="365125"/>
            <a:ext cx="2628900" cy="5811838"/>
          </a:xfrm>
          <a:prstGeom prst="rect">
            <a:avLst/>
          </a:prstGeom>
        </p:spPr>
        <p:txBody>
          <a:bodyPr vert="eaVert"/>
          <a:lstStyle/>
          <a:p>
            <a:r>
              <a:rPr lang="fr-FR"/>
              <a:t>Modifiez le style du titre</a:t>
            </a:r>
            <a:endParaRPr lang="fr-CH"/>
          </a:p>
        </p:txBody>
      </p:sp>
      <p:sp>
        <p:nvSpPr>
          <p:cNvPr id="3" name="Espace réservé du texte vertical 2">
            <a:extLst>
              <a:ext uri="{FF2B5EF4-FFF2-40B4-BE49-F238E27FC236}">
                <a16:creationId xmlns:a16="http://schemas.microsoft.com/office/drawing/2014/main" id="{EBBD31DF-3ED5-A5F8-F58A-6CFCDE057153}"/>
              </a:ext>
            </a:extLst>
          </p:cNvPr>
          <p:cNvSpPr>
            <a:spLocks noGrp="1"/>
          </p:cNvSpPr>
          <p:nvPr>
            <p:ph type="body" orient="vert" idx="1"/>
          </p:nvPr>
        </p:nvSpPr>
        <p:spPr>
          <a:xfrm>
            <a:off x="838200" y="365125"/>
            <a:ext cx="7734300"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H"/>
          </a:p>
        </p:txBody>
      </p:sp>
      <p:sp>
        <p:nvSpPr>
          <p:cNvPr id="4" name="Espace réservé de la date 3">
            <a:extLst>
              <a:ext uri="{FF2B5EF4-FFF2-40B4-BE49-F238E27FC236}">
                <a16:creationId xmlns:a16="http://schemas.microsoft.com/office/drawing/2014/main" id="{4C931CBA-29C9-EDB5-D4CE-A47F7A677F43}"/>
              </a:ext>
            </a:extLst>
          </p:cNvPr>
          <p:cNvSpPr>
            <a:spLocks noGrp="1"/>
          </p:cNvSpPr>
          <p:nvPr>
            <p:ph type="dt" sz="half" idx="10"/>
          </p:nvPr>
        </p:nvSpPr>
        <p:spPr/>
        <p:txBody>
          <a:bodyPr/>
          <a:lstStyle/>
          <a:p>
            <a:fld id="{45819357-91CF-4522-81BC-443C8A48129E}" type="datetimeFigureOut">
              <a:rPr lang="fr-CH" smtClean="0"/>
              <a:t>14.11.2024</a:t>
            </a:fld>
            <a:endParaRPr lang="fr-CH"/>
          </a:p>
        </p:txBody>
      </p:sp>
      <p:sp>
        <p:nvSpPr>
          <p:cNvPr id="5" name="Espace réservé du pied de page 4">
            <a:extLst>
              <a:ext uri="{FF2B5EF4-FFF2-40B4-BE49-F238E27FC236}">
                <a16:creationId xmlns:a16="http://schemas.microsoft.com/office/drawing/2014/main" id="{DAA83DB1-96FA-CAEF-0C32-B3D89EEF4F9A}"/>
              </a:ext>
            </a:extLst>
          </p:cNvPr>
          <p:cNvSpPr>
            <a:spLocks noGrp="1"/>
          </p:cNvSpPr>
          <p:nvPr>
            <p:ph type="ftr" sz="quarter" idx="11"/>
          </p:nvPr>
        </p:nvSpPr>
        <p:spPr/>
        <p:txBody>
          <a:bodyPr/>
          <a:lstStyle/>
          <a:p>
            <a:endParaRPr lang="fr-CH"/>
          </a:p>
        </p:txBody>
      </p:sp>
      <p:sp>
        <p:nvSpPr>
          <p:cNvPr id="6" name="Espace réservé du numéro de diapositive 5">
            <a:extLst>
              <a:ext uri="{FF2B5EF4-FFF2-40B4-BE49-F238E27FC236}">
                <a16:creationId xmlns:a16="http://schemas.microsoft.com/office/drawing/2014/main" id="{00AA1E8A-02DA-14B9-1309-AB9E8DC26B5F}"/>
              </a:ext>
            </a:extLst>
          </p:cNvPr>
          <p:cNvSpPr>
            <a:spLocks noGrp="1"/>
          </p:cNvSpPr>
          <p:nvPr>
            <p:ph type="sldNum" sz="quarter" idx="12"/>
          </p:nvPr>
        </p:nvSpPr>
        <p:spPr/>
        <p:txBody>
          <a:bodyPr/>
          <a:lstStyle/>
          <a:p>
            <a:fld id="{C8B46024-29D6-4676-BB6C-90A01F5DF038}" type="slidenum">
              <a:rPr lang="fr-CH" smtClean="0"/>
              <a:t>‹N°›</a:t>
            </a:fld>
            <a:endParaRPr lang="fr-CH"/>
          </a:p>
        </p:txBody>
      </p:sp>
    </p:spTree>
    <p:extLst>
      <p:ext uri="{BB962C8B-B14F-4D97-AF65-F5344CB8AC3E}">
        <p14:creationId xmlns:p14="http://schemas.microsoft.com/office/powerpoint/2010/main" val="2669248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4DCF925F-C6E1-91C6-7E03-394796C0DB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819357-91CF-4522-81BC-443C8A48129E}" type="datetimeFigureOut">
              <a:rPr lang="fr-CH" smtClean="0"/>
              <a:t>14.11.2024</a:t>
            </a:fld>
            <a:endParaRPr lang="fr-CH"/>
          </a:p>
        </p:txBody>
      </p:sp>
      <p:sp>
        <p:nvSpPr>
          <p:cNvPr id="5" name="Espace réservé du pied de page 4">
            <a:extLst>
              <a:ext uri="{FF2B5EF4-FFF2-40B4-BE49-F238E27FC236}">
                <a16:creationId xmlns:a16="http://schemas.microsoft.com/office/drawing/2014/main" id="{2ABC0FB6-752C-9D5E-2C5E-BFC752B64B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Espace réservé du numéro de diapositive 5">
            <a:extLst>
              <a:ext uri="{FF2B5EF4-FFF2-40B4-BE49-F238E27FC236}">
                <a16:creationId xmlns:a16="http://schemas.microsoft.com/office/drawing/2014/main" id="{DE8B808F-DF9A-B89B-798C-A41E9EE6A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B46024-29D6-4676-BB6C-90A01F5DF038}" type="slidenum">
              <a:rPr lang="fr-CH" smtClean="0"/>
              <a:t>‹N°›</a:t>
            </a:fld>
            <a:endParaRPr lang="fr-CH"/>
          </a:p>
        </p:txBody>
      </p:sp>
      <p:sp>
        <p:nvSpPr>
          <p:cNvPr id="29" name="Rectangle 28">
            <a:extLst>
              <a:ext uri="{FF2B5EF4-FFF2-40B4-BE49-F238E27FC236}">
                <a16:creationId xmlns:a16="http://schemas.microsoft.com/office/drawing/2014/main" id="{10A932A8-968F-DD2F-80C5-D5A0F0A4BD0B}"/>
              </a:ext>
            </a:extLst>
          </p:cNvPr>
          <p:cNvSpPr/>
          <p:nvPr userDrawn="1"/>
        </p:nvSpPr>
        <p:spPr>
          <a:xfrm>
            <a:off x="12304913" y="5365748"/>
            <a:ext cx="3143250" cy="1457325"/>
          </a:xfrm>
          <a:prstGeom prst="rect">
            <a:avLst/>
          </a:prstGeom>
          <a:solidFill>
            <a:srgbClr val="F4E5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extLst>
      <p:ext uri="{BB962C8B-B14F-4D97-AF65-F5344CB8AC3E}">
        <p14:creationId xmlns:p14="http://schemas.microsoft.com/office/powerpoint/2010/main" val="52795185"/>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49" r:id="rId3"/>
    <p:sldLayoutId id="2147483650" r:id="rId4"/>
    <p:sldLayoutId id="2147483651" r:id="rId5"/>
    <p:sldLayoutId id="2147483652" r:id="rId6"/>
    <p:sldLayoutId id="2147483653"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jpeg"/><Relationship Id="rId10" Type="http://schemas.openxmlformats.org/officeDocument/2006/relationships/image" Target="../media/image12.png"/><Relationship Id="rId4" Type="http://schemas.microsoft.com/office/2007/relationships/hdphoto" Target="../media/hdphoto1.wdp"/><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21.jpg"/><Relationship Id="rId3" Type="http://schemas.openxmlformats.org/officeDocument/2006/relationships/image" Target="../media/image16.jpg"/><Relationship Id="rId7" Type="http://schemas.openxmlformats.org/officeDocument/2006/relationships/image" Target="../media/image20.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2.jpeg"/></Relationships>
</file>

<file path=ppt/slides/_rels/slide8.xml.rels><?xml version="1.0" encoding="UTF-8" standalone="yes"?>
<Relationships xmlns="http://schemas.openxmlformats.org/package/2006/relationships"><Relationship Id="rId3" Type="http://schemas.openxmlformats.org/officeDocument/2006/relationships/hyperlink" Target="https://docs.qgis.org/3.34/fr/docs/user_manual/index.html"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hyperlink" Target="https://www.jura.ch/DEN/SDT/Cadastre-et-geoinformation/Formation-QGIS/Formation-QGIS.html" TargetMode="External"/><Relationship Id="rId4" Type="http://schemas.openxmlformats.org/officeDocument/2006/relationships/hyperlink" Target="https://www.qgis.ch/f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2.png"/><Relationship Id="rId7"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2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2.png"/><Relationship Id="rId7"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4.xml"/><Relationship Id="rId5"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24.svg"/></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12.png"/><Relationship Id="rId4" Type="http://schemas.openxmlformats.org/officeDocument/2006/relationships/image" Target="../media/image24.sv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44EAC15F-3FD3-6999-9F1E-521E36CBD7CB}"/>
              </a:ext>
            </a:extLst>
          </p:cNvPr>
          <p:cNvSpPr>
            <a:spLocks noGrp="1"/>
          </p:cNvSpPr>
          <p:nvPr>
            <p:ph type="subTitle" idx="1"/>
          </p:nvPr>
        </p:nvSpPr>
        <p:spPr/>
        <p:txBody>
          <a:bodyPr/>
          <a:lstStyle/>
          <a:p>
            <a:endParaRPr lang="fr-CH" dirty="0"/>
          </a:p>
        </p:txBody>
      </p:sp>
      <p:sp>
        <p:nvSpPr>
          <p:cNvPr id="3" name="Titre 2">
            <a:extLst>
              <a:ext uri="{FF2B5EF4-FFF2-40B4-BE49-F238E27FC236}">
                <a16:creationId xmlns:a16="http://schemas.microsoft.com/office/drawing/2014/main" id="{174F17E8-75F6-3DE9-F533-7A61CE29766D}"/>
              </a:ext>
            </a:extLst>
          </p:cNvPr>
          <p:cNvSpPr>
            <a:spLocks noGrp="1"/>
          </p:cNvSpPr>
          <p:nvPr>
            <p:ph type="title"/>
          </p:nvPr>
        </p:nvSpPr>
        <p:spPr>
          <a:xfrm>
            <a:off x="529975" y="2204199"/>
            <a:ext cx="10515600" cy="1325563"/>
          </a:xfrm>
        </p:spPr>
        <p:txBody>
          <a:bodyPr/>
          <a:lstStyle/>
          <a:p>
            <a:pPr algn="ctr"/>
            <a:r>
              <a:rPr lang="de-CH" dirty="0"/>
              <a:t>Formation QGIS</a:t>
            </a:r>
            <a:endParaRPr lang="fr-CH" dirty="0"/>
          </a:p>
        </p:txBody>
      </p:sp>
    </p:spTree>
    <p:extLst>
      <p:ext uri="{BB962C8B-B14F-4D97-AF65-F5344CB8AC3E}">
        <p14:creationId xmlns:p14="http://schemas.microsoft.com/office/powerpoint/2010/main" val="1610428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90F33422-235C-49D6-BEAE-39592F0A5D4D}"/>
              </a:ext>
            </a:extLst>
          </p:cNvPr>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760" t="1314" r="1005" b="1392"/>
          <a:stretch/>
        </p:blipFill>
        <p:spPr>
          <a:xfrm>
            <a:off x="453157" y="367748"/>
            <a:ext cx="9000443" cy="6122504"/>
          </a:xfrm>
          <a:prstGeom prst="rect">
            <a:avLst/>
          </a:prstGeom>
        </p:spPr>
      </p:pic>
      <p:sp>
        <p:nvSpPr>
          <p:cNvPr id="8" name="Espace réservé du contenu 5">
            <a:extLst>
              <a:ext uri="{FF2B5EF4-FFF2-40B4-BE49-F238E27FC236}">
                <a16:creationId xmlns:a16="http://schemas.microsoft.com/office/drawing/2014/main" id="{9C4372BA-3C69-461B-81EE-779A73C74CE7}"/>
              </a:ext>
            </a:extLst>
          </p:cNvPr>
          <p:cNvSpPr txBox="1">
            <a:spLocks/>
          </p:cNvSpPr>
          <p:nvPr/>
        </p:nvSpPr>
        <p:spPr>
          <a:xfrm>
            <a:off x="774359" y="74788"/>
            <a:ext cx="822960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a:t>Sites</a:t>
            </a:r>
          </a:p>
        </p:txBody>
      </p:sp>
      <p:sp>
        <p:nvSpPr>
          <p:cNvPr id="7" name="Espace réservé du contenu 2">
            <a:extLst>
              <a:ext uri="{FF2B5EF4-FFF2-40B4-BE49-F238E27FC236}">
                <a16:creationId xmlns:a16="http://schemas.microsoft.com/office/drawing/2014/main" id="{B5F38FE0-85B2-4A3A-811C-C59287920F22}"/>
              </a:ext>
            </a:extLst>
          </p:cNvPr>
          <p:cNvSpPr txBox="1">
            <a:spLocks/>
          </p:cNvSpPr>
          <p:nvPr/>
        </p:nvSpPr>
        <p:spPr>
          <a:xfrm>
            <a:off x="777433" y="611721"/>
            <a:ext cx="8280920"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t>8 bureaux</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pic>
        <p:nvPicPr>
          <p:cNvPr id="3" name="Image 2">
            <a:extLst>
              <a:ext uri="{FF2B5EF4-FFF2-40B4-BE49-F238E27FC236}">
                <a16:creationId xmlns:a16="http://schemas.microsoft.com/office/drawing/2014/main" id="{0D513FEF-B405-CD5A-7CFA-4440C6848F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61561" y="3474182"/>
            <a:ext cx="276353" cy="270000"/>
          </a:xfrm>
          <a:prstGeom prst="rect">
            <a:avLst/>
          </a:prstGeom>
        </p:spPr>
      </p:pic>
      <p:pic>
        <p:nvPicPr>
          <p:cNvPr id="4" name="Image 3">
            <a:extLst>
              <a:ext uri="{FF2B5EF4-FFF2-40B4-BE49-F238E27FC236}">
                <a16:creationId xmlns:a16="http://schemas.microsoft.com/office/drawing/2014/main" id="{4BD6D0DD-D177-D159-8738-0FAC98D7850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32008" y="4671631"/>
            <a:ext cx="276353" cy="270000"/>
          </a:xfrm>
          <a:prstGeom prst="rect">
            <a:avLst/>
          </a:prstGeom>
        </p:spPr>
      </p:pic>
      <p:pic>
        <p:nvPicPr>
          <p:cNvPr id="5" name="Image 4">
            <a:extLst>
              <a:ext uri="{FF2B5EF4-FFF2-40B4-BE49-F238E27FC236}">
                <a16:creationId xmlns:a16="http://schemas.microsoft.com/office/drawing/2014/main" id="{D5F40F1B-C8A6-CE00-F942-EA60B4EFCB9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16187" y="3528586"/>
            <a:ext cx="276353" cy="270000"/>
          </a:xfrm>
          <a:prstGeom prst="rect">
            <a:avLst/>
          </a:prstGeom>
        </p:spPr>
      </p:pic>
      <p:pic>
        <p:nvPicPr>
          <p:cNvPr id="6" name="Image 5">
            <a:extLst>
              <a:ext uri="{FF2B5EF4-FFF2-40B4-BE49-F238E27FC236}">
                <a16:creationId xmlns:a16="http://schemas.microsoft.com/office/drawing/2014/main" id="{51D6D8ED-59C6-155F-1203-B5C0C2562000}"/>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176983" y="3620703"/>
            <a:ext cx="276353" cy="270000"/>
          </a:xfrm>
          <a:prstGeom prst="rect">
            <a:avLst/>
          </a:prstGeom>
        </p:spPr>
      </p:pic>
      <p:pic>
        <p:nvPicPr>
          <p:cNvPr id="9" name="Image 8">
            <a:extLst>
              <a:ext uri="{FF2B5EF4-FFF2-40B4-BE49-F238E27FC236}">
                <a16:creationId xmlns:a16="http://schemas.microsoft.com/office/drawing/2014/main" id="{4408DEC8-25E5-2F97-8C98-F4204DD6D45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345111" y="3228034"/>
            <a:ext cx="276353" cy="270000"/>
          </a:xfrm>
          <a:prstGeom prst="rect">
            <a:avLst/>
          </a:prstGeom>
        </p:spPr>
      </p:pic>
      <p:pic>
        <p:nvPicPr>
          <p:cNvPr id="19" name="Image 18">
            <a:extLst>
              <a:ext uri="{FF2B5EF4-FFF2-40B4-BE49-F238E27FC236}">
                <a16:creationId xmlns:a16="http://schemas.microsoft.com/office/drawing/2014/main" id="{80755D5D-0046-74B6-EF00-06795D23B98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727140" y="2934755"/>
            <a:ext cx="276353" cy="270000"/>
          </a:xfrm>
          <a:prstGeom prst="rect">
            <a:avLst/>
          </a:prstGeom>
        </p:spPr>
      </p:pic>
      <p:pic>
        <p:nvPicPr>
          <p:cNvPr id="20" name="Image 19">
            <a:extLst>
              <a:ext uri="{FF2B5EF4-FFF2-40B4-BE49-F238E27FC236}">
                <a16:creationId xmlns:a16="http://schemas.microsoft.com/office/drawing/2014/main" id="{2D5EF484-E114-B2BF-025F-9AB1C8C2425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270185" y="3204182"/>
            <a:ext cx="276353" cy="270000"/>
          </a:xfrm>
          <a:prstGeom prst="rect">
            <a:avLst/>
          </a:prstGeom>
        </p:spPr>
      </p:pic>
      <p:pic>
        <p:nvPicPr>
          <p:cNvPr id="21" name="Image 20">
            <a:extLst>
              <a:ext uri="{FF2B5EF4-FFF2-40B4-BE49-F238E27FC236}">
                <a16:creationId xmlns:a16="http://schemas.microsoft.com/office/drawing/2014/main" id="{9E010E48-C8A1-8CB1-A003-36DBED780A26}"/>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627315" y="3663586"/>
            <a:ext cx="276353" cy="270000"/>
          </a:xfrm>
          <a:prstGeom prst="rect">
            <a:avLst/>
          </a:prstGeom>
        </p:spPr>
      </p:pic>
      <p:sp>
        <p:nvSpPr>
          <p:cNvPr id="22" name="Espace réservé du contenu 2">
            <a:extLst>
              <a:ext uri="{FF2B5EF4-FFF2-40B4-BE49-F238E27FC236}">
                <a16:creationId xmlns:a16="http://schemas.microsoft.com/office/drawing/2014/main" id="{4B2CD364-D849-6DEA-6161-2EF5D67F043A}"/>
              </a:ext>
            </a:extLst>
          </p:cNvPr>
          <p:cNvSpPr txBox="1">
            <a:spLocks/>
          </p:cNvSpPr>
          <p:nvPr/>
        </p:nvSpPr>
        <p:spPr>
          <a:xfrm>
            <a:off x="9902749" y="717668"/>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t>Sion</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3" name="Espace réservé du contenu 2">
            <a:extLst>
              <a:ext uri="{FF2B5EF4-FFF2-40B4-BE49-F238E27FC236}">
                <a16:creationId xmlns:a16="http://schemas.microsoft.com/office/drawing/2014/main" id="{8AA65EEA-F9DF-DDE1-2696-5A44241DFD03}"/>
              </a:ext>
            </a:extLst>
          </p:cNvPr>
          <p:cNvSpPr txBox="1">
            <a:spLocks/>
          </p:cNvSpPr>
          <p:nvPr/>
        </p:nvSpPr>
        <p:spPr>
          <a:xfrm>
            <a:off x="9902748" y="1156563"/>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t>Savièse</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4" name="Espace réservé du contenu 2">
            <a:extLst>
              <a:ext uri="{FF2B5EF4-FFF2-40B4-BE49-F238E27FC236}">
                <a16:creationId xmlns:a16="http://schemas.microsoft.com/office/drawing/2014/main" id="{B3FA3823-4405-8F66-09EA-AEE6849D5746}"/>
              </a:ext>
            </a:extLst>
          </p:cNvPr>
          <p:cNvSpPr txBox="1">
            <a:spLocks/>
          </p:cNvSpPr>
          <p:nvPr/>
        </p:nvSpPr>
        <p:spPr>
          <a:xfrm>
            <a:off x="9902748" y="1595458"/>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t>Ayent</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5" name="Espace réservé du contenu 2">
            <a:extLst>
              <a:ext uri="{FF2B5EF4-FFF2-40B4-BE49-F238E27FC236}">
                <a16:creationId xmlns:a16="http://schemas.microsoft.com/office/drawing/2014/main" id="{C7DF1073-CC6A-AE64-28F3-03B5E44E6007}"/>
              </a:ext>
            </a:extLst>
          </p:cNvPr>
          <p:cNvSpPr txBox="1">
            <a:spLocks/>
          </p:cNvSpPr>
          <p:nvPr/>
        </p:nvSpPr>
        <p:spPr>
          <a:xfrm>
            <a:off x="9902748" y="2034353"/>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lang="fr-CH" sz="2000" dirty="0">
                <a:latin typeface="Tahoma" pitchFamily="34" charset="0"/>
                <a:cs typeface="Tahoma" pitchFamily="34" charset="0"/>
              </a:rPr>
              <a:t>Conthey</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6" name="Espace réservé du contenu 2">
            <a:extLst>
              <a:ext uri="{FF2B5EF4-FFF2-40B4-BE49-F238E27FC236}">
                <a16:creationId xmlns:a16="http://schemas.microsoft.com/office/drawing/2014/main" id="{8C317BBA-AB00-8FC1-AB25-4F4D1D11B3D8}"/>
              </a:ext>
            </a:extLst>
          </p:cNvPr>
          <p:cNvSpPr txBox="1">
            <a:spLocks/>
          </p:cNvSpPr>
          <p:nvPr/>
        </p:nvSpPr>
        <p:spPr>
          <a:xfrm>
            <a:off x="9902747" y="2473248"/>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lang="fr-CH" sz="2000" dirty="0">
                <a:latin typeface="Tahoma" pitchFamily="34" charset="0"/>
                <a:cs typeface="Tahoma" pitchFamily="34" charset="0"/>
              </a:rPr>
              <a:t>Nax</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7" name="Espace réservé du contenu 2">
            <a:extLst>
              <a:ext uri="{FF2B5EF4-FFF2-40B4-BE49-F238E27FC236}">
                <a16:creationId xmlns:a16="http://schemas.microsoft.com/office/drawing/2014/main" id="{75B0BF1E-8C6C-CB67-F172-A04CDC592526}"/>
              </a:ext>
            </a:extLst>
          </p:cNvPr>
          <p:cNvSpPr txBox="1">
            <a:spLocks/>
          </p:cNvSpPr>
          <p:nvPr/>
        </p:nvSpPr>
        <p:spPr>
          <a:xfrm>
            <a:off x="9902747" y="2900287"/>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lang="fr-CH" sz="2000" noProof="0" dirty="0" err="1">
                <a:latin typeface="Tahoma" pitchFamily="34" charset="0"/>
                <a:cs typeface="Tahoma" pitchFamily="34" charset="0"/>
              </a:rPr>
              <a:t>Evolène</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8" name="Espace réservé du contenu 2">
            <a:extLst>
              <a:ext uri="{FF2B5EF4-FFF2-40B4-BE49-F238E27FC236}">
                <a16:creationId xmlns:a16="http://schemas.microsoft.com/office/drawing/2014/main" id="{42FD515D-8F66-6514-E78B-0AF1F2AA32F5}"/>
              </a:ext>
            </a:extLst>
          </p:cNvPr>
          <p:cNvSpPr txBox="1">
            <a:spLocks/>
          </p:cNvSpPr>
          <p:nvPr/>
        </p:nvSpPr>
        <p:spPr>
          <a:xfrm>
            <a:off x="9896611" y="3341791"/>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lang="fr-CH" sz="2000" noProof="0" dirty="0">
                <a:latin typeface="Tahoma" pitchFamily="34" charset="0"/>
                <a:cs typeface="Tahoma" pitchFamily="34" charset="0"/>
              </a:rPr>
              <a:t>Chalais</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
        <p:nvSpPr>
          <p:cNvPr id="29" name="Espace réservé du contenu 2">
            <a:extLst>
              <a:ext uri="{FF2B5EF4-FFF2-40B4-BE49-F238E27FC236}">
                <a16:creationId xmlns:a16="http://schemas.microsoft.com/office/drawing/2014/main" id="{379E3CD0-A639-B835-E971-88D7EEE138E5}"/>
              </a:ext>
            </a:extLst>
          </p:cNvPr>
          <p:cNvSpPr txBox="1">
            <a:spLocks/>
          </p:cNvSpPr>
          <p:nvPr/>
        </p:nvSpPr>
        <p:spPr>
          <a:xfrm>
            <a:off x="9896611" y="3744182"/>
            <a:ext cx="1374851" cy="438895"/>
          </a:xfrm>
          <a:prstGeom prst="rect">
            <a:avLst/>
          </a:prstGeom>
        </p:spPr>
        <p:txBody>
          <a:bodyPr/>
          <a:lstStyle/>
          <a:p>
            <a:pPr marR="0" lvl="0" defTabSz="914400" rtl="0" eaLnBrk="1" fontAlgn="auto" latinLnBrk="0" hangingPunct="1">
              <a:lnSpc>
                <a:spcPct val="100000"/>
              </a:lnSpc>
              <a:spcBef>
                <a:spcPct val="20000"/>
              </a:spcBef>
              <a:spcAft>
                <a:spcPts val="0"/>
              </a:spcAft>
              <a:buClrTx/>
              <a:buSzTx/>
              <a:tabLst/>
              <a:defRPr/>
            </a:pPr>
            <a:r>
              <a:rPr lang="fr-CH" sz="2000" dirty="0">
                <a:latin typeface="Tahoma" pitchFamily="34" charset="0"/>
                <a:cs typeface="Tahoma" pitchFamily="34" charset="0"/>
              </a:rPr>
              <a:t>V</a:t>
            </a:r>
            <a:r>
              <a:rPr lang="fr-CH" sz="2000" noProof="0" dirty="0" err="1">
                <a:latin typeface="Tahoma" pitchFamily="34" charset="0"/>
                <a:cs typeface="Tahoma" pitchFamily="34" charset="0"/>
              </a:rPr>
              <a:t>issoie</a:t>
            </a:r>
            <a:br>
              <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rPr>
            </a:b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tabLst/>
              <a:defRPr/>
            </a:pPr>
            <a:endParaRPr kumimoji="0" lang="fr-CH" sz="2000" b="1" i="1"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fr-CH" sz="2000" b="0" i="0" u="none" strike="noStrike" kern="1200" cap="none" spc="0" normalizeH="0" baseline="0" noProof="0" dirty="0">
              <a:ln>
                <a:noFill/>
              </a:ln>
              <a:solidFill>
                <a:schemeClr val="tx1"/>
              </a:solidFill>
              <a:effectLst/>
              <a:uLnTx/>
              <a:uFillTx/>
              <a:latin typeface="Tahoma" pitchFamily="34" charset="0"/>
              <a:cs typeface="Tahoma" pitchFamily="34" charset="0"/>
            </a:endParaRPr>
          </a:p>
        </p:txBody>
      </p:sp>
    </p:spTree>
    <p:extLst>
      <p:ext uri="{BB962C8B-B14F-4D97-AF65-F5344CB8AC3E}">
        <p14:creationId xmlns:p14="http://schemas.microsoft.com/office/powerpoint/2010/main" val="419182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0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1000"/>
                                  </p:stCondLst>
                                  <p:childTnLst>
                                    <p:set>
                                      <p:cBhvr>
                                        <p:cTn id="12" dur="1" fill="hold">
                                          <p:stCondLst>
                                            <p:cond delay="0"/>
                                          </p:stCondLst>
                                        </p:cTn>
                                        <p:tgtEl>
                                          <p:spTgt spid="19"/>
                                        </p:tgtEl>
                                        <p:attrNameLst>
                                          <p:attrName>style.visibility</p:attrName>
                                        </p:attrNameLst>
                                      </p:cBhvr>
                                      <p:to>
                                        <p:strVal val="visible"/>
                                      </p:to>
                                    </p:set>
                                  </p:childTnLst>
                                </p:cTn>
                              </p:par>
                            </p:childTnLst>
                          </p:cTn>
                        </p:par>
                        <p:par>
                          <p:cTn id="13" fill="hold">
                            <p:stCondLst>
                              <p:cond delay="2000"/>
                            </p:stCondLst>
                            <p:childTnLst>
                              <p:par>
                                <p:cTn id="14" presetID="1" presetClass="entr" presetSubtype="0" fill="hold" nodeType="afterEffect">
                                  <p:stCondLst>
                                    <p:cond delay="1000"/>
                                  </p:stCondLst>
                                  <p:childTnLst>
                                    <p:set>
                                      <p:cBhvr>
                                        <p:cTn id="15" dur="1" fill="hold">
                                          <p:stCondLst>
                                            <p:cond delay="0"/>
                                          </p:stCondLst>
                                        </p:cTn>
                                        <p:tgtEl>
                                          <p:spTgt spid="6"/>
                                        </p:tgtEl>
                                        <p:attrNameLst>
                                          <p:attrName>style.visibility</p:attrName>
                                        </p:attrNameLst>
                                      </p:cBhvr>
                                      <p:to>
                                        <p:strVal val="visible"/>
                                      </p:to>
                                    </p:set>
                                  </p:childTnLst>
                                </p:cTn>
                              </p:par>
                            </p:childTnLst>
                          </p:cTn>
                        </p:par>
                        <p:par>
                          <p:cTn id="16" fill="hold">
                            <p:stCondLst>
                              <p:cond delay="3000"/>
                            </p:stCondLst>
                            <p:childTnLst>
                              <p:par>
                                <p:cTn id="17" presetID="1" presetClass="entr" presetSubtype="0" fill="hold" nodeType="afterEffect">
                                  <p:stCondLst>
                                    <p:cond delay="1000"/>
                                  </p:stCondLst>
                                  <p:childTnLst>
                                    <p:set>
                                      <p:cBhvr>
                                        <p:cTn id="18" dur="1" fill="hold">
                                          <p:stCondLst>
                                            <p:cond delay="0"/>
                                          </p:stCondLst>
                                        </p:cTn>
                                        <p:tgtEl>
                                          <p:spTgt spid="5"/>
                                        </p:tgtEl>
                                        <p:attrNameLst>
                                          <p:attrName>style.visibility</p:attrName>
                                        </p:attrNameLst>
                                      </p:cBhvr>
                                      <p:to>
                                        <p:strVal val="visible"/>
                                      </p:to>
                                    </p:set>
                                  </p:childTnLst>
                                </p:cTn>
                              </p:par>
                            </p:childTnLst>
                          </p:cTn>
                        </p:par>
                        <p:par>
                          <p:cTn id="19" fill="hold">
                            <p:stCondLst>
                              <p:cond delay="4000"/>
                            </p:stCondLst>
                            <p:childTnLst>
                              <p:par>
                                <p:cTn id="20" presetID="1" presetClass="entr" presetSubtype="0" fill="hold" nodeType="afterEffect">
                                  <p:stCondLst>
                                    <p:cond delay="1000"/>
                                  </p:stCondLst>
                                  <p:childTnLst>
                                    <p:set>
                                      <p:cBhvr>
                                        <p:cTn id="21" dur="1" fill="hold">
                                          <p:stCondLst>
                                            <p:cond delay="0"/>
                                          </p:stCondLst>
                                        </p:cTn>
                                        <p:tgtEl>
                                          <p:spTgt spid="4"/>
                                        </p:tgtEl>
                                        <p:attrNameLst>
                                          <p:attrName>style.visibility</p:attrName>
                                        </p:attrNameLst>
                                      </p:cBhvr>
                                      <p:to>
                                        <p:strVal val="visible"/>
                                      </p:to>
                                    </p:set>
                                  </p:childTnLst>
                                </p:cTn>
                              </p:par>
                            </p:childTnLst>
                          </p:cTn>
                        </p:par>
                        <p:par>
                          <p:cTn id="22" fill="hold">
                            <p:stCondLst>
                              <p:cond delay="5000"/>
                            </p:stCondLst>
                            <p:childTnLst>
                              <p:par>
                                <p:cTn id="23" presetID="1" presetClass="entr" presetSubtype="0" fill="hold" nodeType="afterEffect">
                                  <p:stCondLst>
                                    <p:cond delay="1000"/>
                                  </p:stCondLst>
                                  <p:childTnLst>
                                    <p:set>
                                      <p:cBhvr>
                                        <p:cTn id="24" dur="1" fill="hold">
                                          <p:stCondLst>
                                            <p:cond delay="0"/>
                                          </p:stCondLst>
                                        </p:cTn>
                                        <p:tgtEl>
                                          <p:spTgt spid="20"/>
                                        </p:tgtEl>
                                        <p:attrNameLst>
                                          <p:attrName>style.visibility</p:attrName>
                                        </p:attrNameLst>
                                      </p:cBhvr>
                                      <p:to>
                                        <p:strVal val="visible"/>
                                      </p:to>
                                    </p:set>
                                  </p:childTnLst>
                                </p:cTn>
                              </p:par>
                            </p:childTnLst>
                          </p:cTn>
                        </p:par>
                        <p:par>
                          <p:cTn id="25" fill="hold">
                            <p:stCondLst>
                              <p:cond delay="6000"/>
                            </p:stCondLst>
                            <p:childTnLst>
                              <p:par>
                                <p:cTn id="26" presetID="1" presetClass="entr" presetSubtype="0" fill="hold" nodeType="afterEffect">
                                  <p:stCondLst>
                                    <p:cond delay="1000"/>
                                  </p:stCondLst>
                                  <p:childTnLst>
                                    <p:set>
                                      <p:cBhvr>
                                        <p:cTn id="27" dur="1" fill="hold">
                                          <p:stCondLst>
                                            <p:cond delay="0"/>
                                          </p:stCondLst>
                                        </p:cTn>
                                        <p:tgtEl>
                                          <p:spTgt spid="2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a:extLst>
              <a:ext uri="{FF2B5EF4-FFF2-40B4-BE49-F238E27FC236}">
                <a16:creationId xmlns:a16="http://schemas.microsoft.com/office/drawing/2014/main" id="{678E1598-0A98-4AB1-9FB5-D0A7A2C3414E}"/>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5505625" y="5139478"/>
            <a:ext cx="857481" cy="783791"/>
          </a:xfrm>
          <a:prstGeom prst="rect">
            <a:avLst/>
          </a:prstGeom>
        </p:spPr>
      </p:pic>
      <p:sp>
        <p:nvSpPr>
          <p:cNvPr id="23" name="ZoneTexte 22">
            <a:extLst>
              <a:ext uri="{FF2B5EF4-FFF2-40B4-BE49-F238E27FC236}">
                <a16:creationId xmlns:a16="http://schemas.microsoft.com/office/drawing/2014/main" id="{7A5EEE08-0152-41A6-BBF7-8ACFDA4698C9}"/>
              </a:ext>
            </a:extLst>
          </p:cNvPr>
          <p:cNvSpPr txBox="1"/>
          <p:nvPr/>
        </p:nvSpPr>
        <p:spPr>
          <a:xfrm>
            <a:off x="5029835" y="5904292"/>
            <a:ext cx="1837756" cy="646331"/>
          </a:xfrm>
          <a:prstGeom prst="rect">
            <a:avLst/>
          </a:prstGeom>
          <a:noFill/>
        </p:spPr>
        <p:txBody>
          <a:bodyPr wrap="square" rtlCol="0">
            <a:spAutoFit/>
          </a:bodyPr>
          <a:lstStyle/>
          <a:p>
            <a:pPr algn="ctr"/>
            <a:r>
              <a:rPr lang="fr-CH" dirty="0">
                <a:solidFill>
                  <a:schemeClr val="tx1">
                    <a:lumMod val="65000"/>
                    <a:lumOff val="35000"/>
                  </a:schemeClr>
                </a:solidFill>
              </a:rPr>
              <a:t>Développements </a:t>
            </a:r>
          </a:p>
          <a:p>
            <a:pPr algn="ctr"/>
            <a:r>
              <a:rPr lang="fr-CH" dirty="0">
                <a:solidFill>
                  <a:schemeClr val="tx1">
                    <a:lumMod val="65000"/>
                    <a:lumOff val="35000"/>
                  </a:schemeClr>
                </a:solidFill>
              </a:rPr>
              <a:t>urbains</a:t>
            </a:r>
          </a:p>
        </p:txBody>
      </p:sp>
      <p:sp>
        <p:nvSpPr>
          <p:cNvPr id="8" name="Espace réservé du contenu 5">
            <a:extLst>
              <a:ext uri="{FF2B5EF4-FFF2-40B4-BE49-F238E27FC236}">
                <a16:creationId xmlns:a16="http://schemas.microsoft.com/office/drawing/2014/main" id="{9C4372BA-3C69-461B-81EE-779A73C74CE7}"/>
              </a:ext>
            </a:extLst>
          </p:cNvPr>
          <p:cNvSpPr txBox="1">
            <a:spLocks/>
          </p:cNvSpPr>
          <p:nvPr/>
        </p:nvSpPr>
        <p:spPr>
          <a:xfrm>
            <a:off x="774359" y="74788"/>
            <a:ext cx="822960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dirty="0"/>
              <a:t>Domaines de compétences</a:t>
            </a:r>
            <a:endParaRPr lang="fr-CH" sz="800" i="1" dirty="0"/>
          </a:p>
        </p:txBody>
      </p:sp>
      <p:pic>
        <p:nvPicPr>
          <p:cNvPr id="7" name="Image 6">
            <a:extLst>
              <a:ext uri="{FF2B5EF4-FFF2-40B4-BE49-F238E27FC236}">
                <a16:creationId xmlns:a16="http://schemas.microsoft.com/office/drawing/2014/main" id="{43ADA78D-868A-41BB-8633-57CB614AA8D9}"/>
              </a:ext>
            </a:extLst>
          </p:cNvPr>
          <p:cNvPicPr>
            <a:picLocks noChangeAspect="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51525" y="3022314"/>
            <a:ext cx="2169243" cy="813371"/>
          </a:xfrm>
          <a:prstGeom prst="rect">
            <a:avLst/>
          </a:prstGeom>
        </p:spPr>
      </p:pic>
      <p:grpSp>
        <p:nvGrpSpPr>
          <p:cNvPr id="9" name="Groupe 8">
            <a:extLst>
              <a:ext uri="{FF2B5EF4-FFF2-40B4-BE49-F238E27FC236}">
                <a16:creationId xmlns:a16="http://schemas.microsoft.com/office/drawing/2014/main" id="{7FBEE66E-D249-4538-AF3A-CC2C49D1542F}"/>
              </a:ext>
            </a:extLst>
          </p:cNvPr>
          <p:cNvGrpSpPr/>
          <p:nvPr/>
        </p:nvGrpSpPr>
        <p:grpSpPr>
          <a:xfrm>
            <a:off x="1941146" y="980117"/>
            <a:ext cx="2266496" cy="923490"/>
            <a:chOff x="528323" y="1051490"/>
            <a:chExt cx="2266496" cy="923490"/>
          </a:xfrm>
        </p:grpSpPr>
        <p:pic>
          <p:nvPicPr>
            <p:cNvPr id="10" name="Image 9">
              <a:extLst>
                <a:ext uri="{FF2B5EF4-FFF2-40B4-BE49-F238E27FC236}">
                  <a16:creationId xmlns:a16="http://schemas.microsoft.com/office/drawing/2014/main" id="{5E3648A0-6034-4CF2-B040-93579FE5C5AB}"/>
                </a:ext>
              </a:extLst>
            </p:cNvPr>
            <p:cNvPicPr>
              <a:picLocks noChangeAspect="1"/>
            </p:cNvPicPr>
            <p:nvPr/>
          </p:nvPicPr>
          <p:blipFill>
            <a:blip r:embed="rId6" cstate="print">
              <a:clrChange>
                <a:clrFrom>
                  <a:srgbClr val="FFFFFF"/>
                </a:clrFrom>
                <a:clrTo>
                  <a:srgbClr val="FFFFFF">
                    <a:alpha val="0"/>
                  </a:srgbClr>
                </a:clrTo>
              </a:clrChange>
            </a:blip>
            <a:stretch>
              <a:fillRect/>
            </a:stretch>
          </p:blipFill>
          <p:spPr>
            <a:xfrm>
              <a:off x="1306073" y="1051490"/>
              <a:ext cx="710995" cy="554158"/>
            </a:xfrm>
            <a:prstGeom prst="rect">
              <a:avLst/>
            </a:prstGeom>
          </p:spPr>
        </p:pic>
        <p:sp>
          <p:nvSpPr>
            <p:cNvPr id="11" name="ZoneTexte 10">
              <a:extLst>
                <a:ext uri="{FF2B5EF4-FFF2-40B4-BE49-F238E27FC236}">
                  <a16:creationId xmlns:a16="http://schemas.microsoft.com/office/drawing/2014/main" id="{8590A48E-AE24-4AE5-9F64-418ED41911CB}"/>
                </a:ext>
              </a:extLst>
            </p:cNvPr>
            <p:cNvSpPr txBox="1"/>
            <p:nvPr/>
          </p:nvSpPr>
          <p:spPr>
            <a:xfrm>
              <a:off x="528323" y="1605648"/>
              <a:ext cx="2266496" cy="369332"/>
            </a:xfrm>
            <a:prstGeom prst="rect">
              <a:avLst/>
            </a:prstGeom>
            <a:noFill/>
          </p:spPr>
          <p:txBody>
            <a:bodyPr wrap="square" rtlCol="0">
              <a:spAutoFit/>
            </a:bodyPr>
            <a:lstStyle/>
            <a:p>
              <a:r>
                <a:rPr lang="fr-CH" dirty="0">
                  <a:solidFill>
                    <a:schemeClr val="tx1">
                      <a:lumMod val="65000"/>
                      <a:lumOff val="35000"/>
                    </a:schemeClr>
                  </a:solidFill>
                </a:rPr>
                <a:t>Mensuration officielle</a:t>
              </a:r>
            </a:p>
          </p:txBody>
        </p:sp>
      </p:grpSp>
      <p:grpSp>
        <p:nvGrpSpPr>
          <p:cNvPr id="12" name="Groupe 11">
            <a:extLst>
              <a:ext uri="{FF2B5EF4-FFF2-40B4-BE49-F238E27FC236}">
                <a16:creationId xmlns:a16="http://schemas.microsoft.com/office/drawing/2014/main" id="{FAF12DFD-0BD9-4378-9AED-50454DCAE254}"/>
              </a:ext>
            </a:extLst>
          </p:cNvPr>
          <p:cNvGrpSpPr/>
          <p:nvPr/>
        </p:nvGrpSpPr>
        <p:grpSpPr>
          <a:xfrm>
            <a:off x="7672981" y="806608"/>
            <a:ext cx="1837756" cy="1302490"/>
            <a:chOff x="5282547" y="788324"/>
            <a:chExt cx="1837756" cy="1302490"/>
          </a:xfrm>
        </p:grpSpPr>
        <p:pic>
          <p:nvPicPr>
            <p:cNvPr id="13" name="Image 12">
              <a:extLst>
                <a:ext uri="{FF2B5EF4-FFF2-40B4-BE49-F238E27FC236}">
                  <a16:creationId xmlns:a16="http://schemas.microsoft.com/office/drawing/2014/main" id="{8785DA15-435F-4BF3-991C-76D35DAACAEA}"/>
                </a:ext>
              </a:extLst>
            </p:cNvPr>
            <p:cNvPicPr>
              <a:picLocks noChangeAspect="1"/>
            </p:cNvPicPr>
            <p:nvPr/>
          </p:nvPicPr>
          <p:blipFill>
            <a:blip r:embed="rId7" cstate="print"/>
            <a:stretch>
              <a:fillRect/>
            </a:stretch>
          </p:blipFill>
          <p:spPr>
            <a:xfrm>
              <a:off x="5930081" y="788324"/>
              <a:ext cx="542688" cy="656159"/>
            </a:xfrm>
            <a:prstGeom prst="rect">
              <a:avLst/>
            </a:prstGeom>
          </p:spPr>
        </p:pic>
        <p:sp>
          <p:nvSpPr>
            <p:cNvPr id="14" name="ZoneTexte 13">
              <a:extLst>
                <a:ext uri="{FF2B5EF4-FFF2-40B4-BE49-F238E27FC236}">
                  <a16:creationId xmlns:a16="http://schemas.microsoft.com/office/drawing/2014/main" id="{DD88F17E-E69B-411C-8F0A-898ED95890D7}"/>
                </a:ext>
              </a:extLst>
            </p:cNvPr>
            <p:cNvSpPr txBox="1"/>
            <p:nvPr/>
          </p:nvSpPr>
          <p:spPr>
            <a:xfrm>
              <a:off x="5282547" y="1444483"/>
              <a:ext cx="1837756" cy="646331"/>
            </a:xfrm>
            <a:prstGeom prst="rect">
              <a:avLst/>
            </a:prstGeom>
            <a:noFill/>
          </p:spPr>
          <p:txBody>
            <a:bodyPr wrap="square" rtlCol="0">
              <a:spAutoFit/>
            </a:bodyPr>
            <a:lstStyle/>
            <a:p>
              <a:pPr algn="ctr"/>
              <a:r>
                <a:rPr lang="fr-CH">
                  <a:solidFill>
                    <a:schemeClr val="tx1">
                      <a:lumMod val="65000"/>
                      <a:lumOff val="35000"/>
                    </a:schemeClr>
                  </a:solidFill>
                </a:rPr>
                <a:t>Travaux spéciaux et géodésie</a:t>
              </a:r>
            </a:p>
          </p:txBody>
        </p:sp>
      </p:grpSp>
      <p:pic>
        <p:nvPicPr>
          <p:cNvPr id="16" name="Image 15">
            <a:extLst>
              <a:ext uri="{FF2B5EF4-FFF2-40B4-BE49-F238E27FC236}">
                <a16:creationId xmlns:a16="http://schemas.microsoft.com/office/drawing/2014/main" id="{FD7B81B8-5199-4FC4-A5C6-4B696BF73338}"/>
              </a:ext>
            </a:extLst>
          </p:cNvPr>
          <p:cNvPicPr>
            <a:picLocks noChangeAspect="1"/>
          </p:cNvPicPr>
          <p:nvPr/>
        </p:nvPicPr>
        <p:blipFill>
          <a:blip r:embed="rId8" cstate="print"/>
          <a:stretch>
            <a:fillRect/>
          </a:stretch>
        </p:blipFill>
        <p:spPr>
          <a:xfrm>
            <a:off x="12547420" y="2679050"/>
            <a:ext cx="788656" cy="686528"/>
          </a:xfrm>
          <a:prstGeom prst="rect">
            <a:avLst/>
          </a:prstGeom>
        </p:spPr>
      </p:pic>
      <p:sp>
        <p:nvSpPr>
          <p:cNvPr id="20" name="ZoneTexte 19">
            <a:extLst>
              <a:ext uri="{FF2B5EF4-FFF2-40B4-BE49-F238E27FC236}">
                <a16:creationId xmlns:a16="http://schemas.microsoft.com/office/drawing/2014/main" id="{DB3B8C28-AC27-404F-A478-BF5307016511}"/>
              </a:ext>
            </a:extLst>
          </p:cNvPr>
          <p:cNvSpPr txBox="1"/>
          <p:nvPr/>
        </p:nvSpPr>
        <p:spPr>
          <a:xfrm>
            <a:off x="8263375" y="3679238"/>
            <a:ext cx="1837756" cy="646331"/>
          </a:xfrm>
          <a:prstGeom prst="rect">
            <a:avLst/>
          </a:prstGeom>
          <a:noFill/>
        </p:spPr>
        <p:txBody>
          <a:bodyPr wrap="square" rtlCol="0">
            <a:spAutoFit/>
          </a:bodyPr>
          <a:lstStyle/>
          <a:p>
            <a:pPr algn="ctr"/>
            <a:r>
              <a:rPr lang="fr-CH" dirty="0">
                <a:solidFill>
                  <a:schemeClr val="tx1">
                    <a:lumMod val="65000"/>
                    <a:lumOff val="35000"/>
                  </a:schemeClr>
                </a:solidFill>
              </a:rPr>
              <a:t>Photogrammétrie</a:t>
            </a:r>
          </a:p>
          <a:p>
            <a:pPr algn="ctr"/>
            <a:r>
              <a:rPr lang="fr-CH" dirty="0">
                <a:solidFill>
                  <a:schemeClr val="tx1">
                    <a:lumMod val="65000"/>
                    <a:lumOff val="35000"/>
                  </a:schemeClr>
                </a:solidFill>
              </a:rPr>
              <a:t>et imagerie 3D</a:t>
            </a:r>
          </a:p>
        </p:txBody>
      </p:sp>
      <p:grpSp>
        <p:nvGrpSpPr>
          <p:cNvPr id="24" name="Groupe 23">
            <a:extLst>
              <a:ext uri="{FF2B5EF4-FFF2-40B4-BE49-F238E27FC236}">
                <a16:creationId xmlns:a16="http://schemas.microsoft.com/office/drawing/2014/main" id="{B351F9CC-C0D5-4014-BC55-9D21175CC75D}"/>
              </a:ext>
            </a:extLst>
          </p:cNvPr>
          <p:cNvGrpSpPr/>
          <p:nvPr/>
        </p:nvGrpSpPr>
        <p:grpSpPr>
          <a:xfrm>
            <a:off x="7162166" y="4748903"/>
            <a:ext cx="1837756" cy="1576271"/>
            <a:chOff x="4704789" y="5066991"/>
            <a:chExt cx="1837756" cy="1576271"/>
          </a:xfrm>
        </p:grpSpPr>
        <p:pic>
          <p:nvPicPr>
            <p:cNvPr id="25" name="Image 24">
              <a:extLst>
                <a:ext uri="{FF2B5EF4-FFF2-40B4-BE49-F238E27FC236}">
                  <a16:creationId xmlns:a16="http://schemas.microsoft.com/office/drawing/2014/main" id="{0811F0A0-3062-4F5B-B72A-C10685F52369}"/>
                </a:ext>
              </a:extLst>
            </p:cNvPr>
            <p:cNvPicPr>
              <a:picLocks noChangeAspect="1"/>
            </p:cNvPicPr>
            <p:nvPr/>
          </p:nvPicPr>
          <p:blipFill>
            <a:blip r:embed="rId9" cstate="print">
              <a:clrChange>
                <a:clrFrom>
                  <a:srgbClr val="FFFFFF"/>
                </a:clrFrom>
                <a:clrTo>
                  <a:srgbClr val="FFFFFF">
                    <a:alpha val="0"/>
                  </a:srgbClr>
                </a:clrTo>
              </a:clrChange>
            </a:blip>
            <a:stretch>
              <a:fillRect/>
            </a:stretch>
          </p:blipFill>
          <p:spPr>
            <a:xfrm>
              <a:off x="5191432" y="5066991"/>
              <a:ext cx="864471" cy="737963"/>
            </a:xfrm>
            <a:prstGeom prst="rect">
              <a:avLst/>
            </a:prstGeom>
          </p:spPr>
        </p:pic>
        <p:sp>
          <p:nvSpPr>
            <p:cNvPr id="26" name="ZoneTexte 25">
              <a:extLst>
                <a:ext uri="{FF2B5EF4-FFF2-40B4-BE49-F238E27FC236}">
                  <a16:creationId xmlns:a16="http://schemas.microsoft.com/office/drawing/2014/main" id="{88AD07F7-8CE0-406D-8D9E-8648B014A9A8}"/>
                </a:ext>
              </a:extLst>
            </p:cNvPr>
            <p:cNvSpPr txBox="1"/>
            <p:nvPr/>
          </p:nvSpPr>
          <p:spPr>
            <a:xfrm>
              <a:off x="4704789" y="5719932"/>
              <a:ext cx="1837756" cy="923330"/>
            </a:xfrm>
            <a:prstGeom prst="rect">
              <a:avLst/>
            </a:prstGeom>
            <a:noFill/>
          </p:spPr>
          <p:txBody>
            <a:bodyPr wrap="square" rtlCol="0">
              <a:spAutoFit/>
            </a:bodyPr>
            <a:lstStyle/>
            <a:p>
              <a:pPr algn="ctr"/>
              <a:r>
                <a:rPr lang="fr-CH">
                  <a:solidFill>
                    <a:schemeClr val="tx1">
                      <a:lumMod val="65000"/>
                      <a:lumOff val="35000"/>
                    </a:schemeClr>
                  </a:solidFill>
                </a:rPr>
                <a:t>Améliorations structurelles</a:t>
              </a:r>
            </a:p>
            <a:p>
              <a:pPr algn="ctr"/>
              <a:r>
                <a:rPr lang="fr-CH">
                  <a:solidFill>
                    <a:schemeClr val="tx1">
                      <a:lumMod val="65000"/>
                      <a:lumOff val="35000"/>
                    </a:schemeClr>
                  </a:solidFill>
                </a:rPr>
                <a:t>Agriculture</a:t>
              </a:r>
            </a:p>
          </p:txBody>
        </p:sp>
      </p:grpSp>
      <p:grpSp>
        <p:nvGrpSpPr>
          <p:cNvPr id="27" name="Groupe 26">
            <a:extLst>
              <a:ext uri="{FF2B5EF4-FFF2-40B4-BE49-F238E27FC236}">
                <a16:creationId xmlns:a16="http://schemas.microsoft.com/office/drawing/2014/main" id="{86A34EF0-B6C4-4E1D-BD19-046304F28EAD}"/>
              </a:ext>
            </a:extLst>
          </p:cNvPr>
          <p:cNvGrpSpPr/>
          <p:nvPr/>
        </p:nvGrpSpPr>
        <p:grpSpPr>
          <a:xfrm>
            <a:off x="2632781" y="5002996"/>
            <a:ext cx="2073785" cy="1032337"/>
            <a:chOff x="2017068" y="5128664"/>
            <a:chExt cx="2073785" cy="1032337"/>
          </a:xfrm>
        </p:grpSpPr>
        <p:pic>
          <p:nvPicPr>
            <p:cNvPr id="28" name="Image 27">
              <a:extLst>
                <a:ext uri="{FF2B5EF4-FFF2-40B4-BE49-F238E27FC236}">
                  <a16:creationId xmlns:a16="http://schemas.microsoft.com/office/drawing/2014/main" id="{16B18B65-4D5B-4117-A4A0-52F04E264F48}"/>
                </a:ext>
              </a:extLst>
            </p:cNvPr>
            <p:cNvPicPr>
              <a:picLocks noChangeAspect="1"/>
            </p:cNvPicPr>
            <p:nvPr/>
          </p:nvPicPr>
          <p:blipFill rotWithShape="1">
            <a:blip r:embed="rId10" cstate="print">
              <a:clrChange>
                <a:clrFrom>
                  <a:srgbClr val="FFFFFF"/>
                </a:clrFrom>
                <a:clrTo>
                  <a:srgbClr val="FFFFFF">
                    <a:alpha val="0"/>
                  </a:srgbClr>
                </a:clrTo>
              </a:clrChange>
            </a:blip>
            <a:srcRect b="6129"/>
            <a:stretch/>
          </p:blipFill>
          <p:spPr>
            <a:xfrm>
              <a:off x="2664079" y="5128664"/>
              <a:ext cx="606376" cy="676290"/>
            </a:xfrm>
            <a:prstGeom prst="rect">
              <a:avLst/>
            </a:prstGeom>
          </p:spPr>
        </p:pic>
        <p:sp>
          <p:nvSpPr>
            <p:cNvPr id="29" name="ZoneTexte 28">
              <a:extLst>
                <a:ext uri="{FF2B5EF4-FFF2-40B4-BE49-F238E27FC236}">
                  <a16:creationId xmlns:a16="http://schemas.microsoft.com/office/drawing/2014/main" id="{7CA8A446-2F77-456B-9E31-777A63C218B0}"/>
                </a:ext>
              </a:extLst>
            </p:cNvPr>
            <p:cNvSpPr txBox="1"/>
            <p:nvPr/>
          </p:nvSpPr>
          <p:spPr>
            <a:xfrm>
              <a:off x="2017068" y="5791669"/>
              <a:ext cx="2073785" cy="369332"/>
            </a:xfrm>
            <a:prstGeom prst="rect">
              <a:avLst/>
            </a:prstGeom>
            <a:noFill/>
          </p:spPr>
          <p:txBody>
            <a:bodyPr wrap="square" rtlCol="0">
              <a:spAutoFit/>
            </a:bodyPr>
            <a:lstStyle/>
            <a:p>
              <a:pPr algn="ctr"/>
              <a:r>
                <a:rPr lang="fr-CH" err="1">
                  <a:solidFill>
                    <a:schemeClr val="tx1">
                      <a:lumMod val="65000"/>
                      <a:lumOff val="35000"/>
                    </a:schemeClr>
                  </a:solidFill>
                </a:rPr>
                <a:t>Géoinformation</a:t>
              </a:r>
              <a:endParaRPr lang="fr-CH">
                <a:solidFill>
                  <a:schemeClr val="tx1">
                    <a:lumMod val="65000"/>
                    <a:lumOff val="35000"/>
                  </a:schemeClr>
                </a:solidFill>
              </a:endParaRPr>
            </a:p>
          </p:txBody>
        </p:sp>
      </p:grpSp>
      <p:grpSp>
        <p:nvGrpSpPr>
          <p:cNvPr id="30" name="Groupe 29">
            <a:extLst>
              <a:ext uri="{FF2B5EF4-FFF2-40B4-BE49-F238E27FC236}">
                <a16:creationId xmlns:a16="http://schemas.microsoft.com/office/drawing/2014/main" id="{FDDDA16F-196E-4F61-A955-B37A7C6F3F9C}"/>
              </a:ext>
            </a:extLst>
          </p:cNvPr>
          <p:cNvGrpSpPr/>
          <p:nvPr/>
        </p:nvGrpSpPr>
        <p:grpSpPr>
          <a:xfrm>
            <a:off x="1559538" y="3041438"/>
            <a:ext cx="2073785" cy="1008694"/>
            <a:chOff x="152161" y="3608304"/>
            <a:chExt cx="2073785" cy="1008694"/>
          </a:xfrm>
        </p:grpSpPr>
        <p:pic>
          <p:nvPicPr>
            <p:cNvPr id="31" name="Image 30">
              <a:extLst>
                <a:ext uri="{FF2B5EF4-FFF2-40B4-BE49-F238E27FC236}">
                  <a16:creationId xmlns:a16="http://schemas.microsoft.com/office/drawing/2014/main" id="{E4EE3579-7895-4387-8F68-E5152BD2F151}"/>
                </a:ext>
              </a:extLst>
            </p:cNvPr>
            <p:cNvPicPr>
              <a:picLocks noChangeAspect="1"/>
            </p:cNvPicPr>
            <p:nvPr/>
          </p:nvPicPr>
          <p:blipFill>
            <a:blip r:embed="rId11" cstate="print">
              <a:clrChange>
                <a:clrFrom>
                  <a:srgbClr val="FFFFFF"/>
                </a:clrFrom>
                <a:clrTo>
                  <a:srgbClr val="FFFFFF">
                    <a:alpha val="0"/>
                  </a:srgbClr>
                </a:clrTo>
              </a:clrChange>
            </a:blip>
            <a:stretch>
              <a:fillRect/>
            </a:stretch>
          </p:blipFill>
          <p:spPr>
            <a:xfrm>
              <a:off x="873772" y="3608304"/>
              <a:ext cx="630564" cy="658714"/>
            </a:xfrm>
            <a:prstGeom prst="rect">
              <a:avLst/>
            </a:prstGeom>
          </p:spPr>
        </p:pic>
        <p:sp>
          <p:nvSpPr>
            <p:cNvPr id="32" name="ZoneTexte 31">
              <a:extLst>
                <a:ext uri="{FF2B5EF4-FFF2-40B4-BE49-F238E27FC236}">
                  <a16:creationId xmlns:a16="http://schemas.microsoft.com/office/drawing/2014/main" id="{9F54C258-6F3A-4689-9B90-FB178C171CC9}"/>
                </a:ext>
              </a:extLst>
            </p:cNvPr>
            <p:cNvSpPr txBox="1"/>
            <p:nvPr/>
          </p:nvSpPr>
          <p:spPr>
            <a:xfrm>
              <a:off x="152161" y="4247666"/>
              <a:ext cx="2073785" cy="369332"/>
            </a:xfrm>
            <a:prstGeom prst="rect">
              <a:avLst/>
            </a:prstGeom>
            <a:noFill/>
          </p:spPr>
          <p:txBody>
            <a:bodyPr wrap="square" rtlCol="0">
              <a:spAutoFit/>
            </a:bodyPr>
            <a:lstStyle/>
            <a:p>
              <a:pPr algn="ctr"/>
              <a:r>
                <a:rPr lang="fr-CH">
                  <a:solidFill>
                    <a:schemeClr val="tx1">
                      <a:lumMod val="65000"/>
                      <a:lumOff val="35000"/>
                    </a:schemeClr>
                  </a:solidFill>
                </a:rPr>
                <a:t>Génie civil</a:t>
              </a:r>
            </a:p>
          </p:txBody>
        </p:sp>
      </p:grpSp>
      <p:sp>
        <p:nvSpPr>
          <p:cNvPr id="33" name="Flèche : droite 32">
            <a:extLst>
              <a:ext uri="{FF2B5EF4-FFF2-40B4-BE49-F238E27FC236}">
                <a16:creationId xmlns:a16="http://schemas.microsoft.com/office/drawing/2014/main" id="{020C7903-4228-46CA-95A5-298341441486}"/>
              </a:ext>
            </a:extLst>
          </p:cNvPr>
          <p:cNvSpPr/>
          <p:nvPr/>
        </p:nvSpPr>
        <p:spPr>
          <a:xfrm rot="14221970">
            <a:off x="3975485" y="2249084"/>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4" name="Flèche : droite 33">
            <a:extLst>
              <a:ext uri="{FF2B5EF4-FFF2-40B4-BE49-F238E27FC236}">
                <a16:creationId xmlns:a16="http://schemas.microsoft.com/office/drawing/2014/main" id="{E3EC9D10-25AC-40FA-9606-F35F2D9B2FEC}"/>
              </a:ext>
            </a:extLst>
          </p:cNvPr>
          <p:cNvSpPr/>
          <p:nvPr/>
        </p:nvSpPr>
        <p:spPr>
          <a:xfrm rot="10800000">
            <a:off x="3440975" y="3228467"/>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5" name="Flèche : droite 34">
            <a:extLst>
              <a:ext uri="{FF2B5EF4-FFF2-40B4-BE49-F238E27FC236}">
                <a16:creationId xmlns:a16="http://schemas.microsoft.com/office/drawing/2014/main" id="{290102CD-6884-4668-B58F-DB1A766CDA6A}"/>
              </a:ext>
            </a:extLst>
          </p:cNvPr>
          <p:cNvSpPr/>
          <p:nvPr/>
        </p:nvSpPr>
        <p:spPr>
          <a:xfrm rot="8044719">
            <a:off x="3795353" y="4234401"/>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6" name="Flèche : droite 35">
            <a:extLst>
              <a:ext uri="{FF2B5EF4-FFF2-40B4-BE49-F238E27FC236}">
                <a16:creationId xmlns:a16="http://schemas.microsoft.com/office/drawing/2014/main" id="{2E2C72C5-CB24-44C4-9BC4-76102735E4A5}"/>
              </a:ext>
            </a:extLst>
          </p:cNvPr>
          <p:cNvSpPr/>
          <p:nvPr/>
        </p:nvSpPr>
        <p:spPr>
          <a:xfrm rot="3122241">
            <a:off x="6826195" y="4178747"/>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7" name="Flèche : droite 36">
            <a:extLst>
              <a:ext uri="{FF2B5EF4-FFF2-40B4-BE49-F238E27FC236}">
                <a16:creationId xmlns:a16="http://schemas.microsoft.com/office/drawing/2014/main" id="{FA2B1F2A-8C33-42C2-B6F0-5B4A66F6A92D}"/>
              </a:ext>
            </a:extLst>
          </p:cNvPr>
          <p:cNvSpPr/>
          <p:nvPr/>
        </p:nvSpPr>
        <p:spPr>
          <a:xfrm rot="16200000">
            <a:off x="12626666" y="4038256"/>
            <a:ext cx="630165"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8" name="Flèche : droite 37">
            <a:extLst>
              <a:ext uri="{FF2B5EF4-FFF2-40B4-BE49-F238E27FC236}">
                <a16:creationId xmlns:a16="http://schemas.microsoft.com/office/drawing/2014/main" id="{53CF2A82-3A1B-4DBF-9BAC-DFAE6BA88771}"/>
              </a:ext>
            </a:extLst>
          </p:cNvPr>
          <p:cNvSpPr/>
          <p:nvPr/>
        </p:nvSpPr>
        <p:spPr>
          <a:xfrm>
            <a:off x="7281867" y="3265172"/>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39" name="Flèche : droite 38">
            <a:extLst>
              <a:ext uri="{FF2B5EF4-FFF2-40B4-BE49-F238E27FC236}">
                <a16:creationId xmlns:a16="http://schemas.microsoft.com/office/drawing/2014/main" id="{BA753995-F3D5-4937-AAF8-D9F637B78856}"/>
              </a:ext>
            </a:extLst>
          </p:cNvPr>
          <p:cNvSpPr/>
          <p:nvPr/>
        </p:nvSpPr>
        <p:spPr>
          <a:xfrm rot="18774120">
            <a:off x="6727372" y="2273355"/>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pic>
        <p:nvPicPr>
          <p:cNvPr id="3" name="Image 2" descr="Une image contenant texte, signe, sombre&#10;&#10;Description générée automatiquement">
            <a:extLst>
              <a:ext uri="{FF2B5EF4-FFF2-40B4-BE49-F238E27FC236}">
                <a16:creationId xmlns:a16="http://schemas.microsoft.com/office/drawing/2014/main" id="{D9A4AC79-8170-486D-AFE2-6AC9B67C894C}"/>
              </a:ext>
            </a:extLst>
          </p:cNvPr>
          <p:cNvPicPr>
            <a:picLocks noChangeAspect="1"/>
          </p:cNvPicPr>
          <p:nvPr/>
        </p:nvPicPr>
        <p:blipFill>
          <a:blip r:embed="rId12" cstate="print">
            <a:duotone>
              <a:prstClr val="black"/>
              <a:schemeClr val="accent3">
                <a:tint val="45000"/>
                <a:satMod val="400000"/>
              </a:schemeClr>
            </a:duotone>
            <a:extLst>
              <a:ext uri="{28A0092B-C50C-407E-A947-70E740481C1C}">
                <a14:useLocalDpi xmlns:a14="http://schemas.microsoft.com/office/drawing/2010/main" val="0"/>
              </a:ext>
            </a:extLst>
          </a:blip>
          <a:stretch>
            <a:fillRect/>
          </a:stretch>
        </p:blipFill>
        <p:spPr>
          <a:xfrm>
            <a:off x="8591859" y="2787296"/>
            <a:ext cx="860075" cy="860075"/>
          </a:xfrm>
          <a:prstGeom prst="rect">
            <a:avLst/>
          </a:prstGeom>
        </p:spPr>
      </p:pic>
      <p:sp>
        <p:nvSpPr>
          <p:cNvPr id="2" name="Flèche : droite 1">
            <a:extLst>
              <a:ext uri="{FF2B5EF4-FFF2-40B4-BE49-F238E27FC236}">
                <a16:creationId xmlns:a16="http://schemas.microsoft.com/office/drawing/2014/main" id="{2B6D2872-D8E7-7779-B600-79BBCFDB9166}"/>
              </a:ext>
            </a:extLst>
          </p:cNvPr>
          <p:cNvSpPr/>
          <p:nvPr/>
        </p:nvSpPr>
        <p:spPr>
          <a:xfrm rot="5400000">
            <a:off x="5462572" y="4350603"/>
            <a:ext cx="869586" cy="366668"/>
          </a:xfrm>
          <a:prstGeom prs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spTree>
    <p:extLst>
      <p:ext uri="{BB962C8B-B14F-4D97-AF65-F5344CB8AC3E}">
        <p14:creationId xmlns:p14="http://schemas.microsoft.com/office/powerpoint/2010/main" val="894222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8EA9E1A-57C1-35A3-D46D-57466915AFE4}"/>
              </a:ext>
            </a:extLst>
          </p:cNvPr>
          <p:cNvSpPr/>
          <p:nvPr/>
        </p:nvSpPr>
        <p:spPr>
          <a:xfrm>
            <a:off x="481029" y="490880"/>
            <a:ext cx="2480535" cy="546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H"/>
          </a:p>
        </p:txBody>
      </p:sp>
      <p:pic>
        <p:nvPicPr>
          <p:cNvPr id="2" name="Image 1">
            <a:extLst>
              <a:ext uri="{FF2B5EF4-FFF2-40B4-BE49-F238E27FC236}">
                <a16:creationId xmlns:a16="http://schemas.microsoft.com/office/drawing/2014/main" id="{B3E800B7-B39B-748F-B10E-1BFE88E4BD51}"/>
              </a:ext>
            </a:extLst>
          </p:cNvPr>
          <p:cNvPicPr>
            <a:picLocks noChangeAspect="1"/>
          </p:cNvPicPr>
          <p:nvPr/>
        </p:nvPicPr>
        <p:blipFill rotWithShape="1">
          <a:blip r:embed="rId2" cstate="print"/>
          <a:srcRect b="6129"/>
          <a:stretch/>
        </p:blipFill>
        <p:spPr>
          <a:xfrm>
            <a:off x="481029" y="360690"/>
            <a:ext cx="606376" cy="676290"/>
          </a:xfrm>
          <a:prstGeom prst="rect">
            <a:avLst/>
          </a:prstGeom>
        </p:spPr>
      </p:pic>
      <p:pic>
        <p:nvPicPr>
          <p:cNvPr id="4" name="Image 3" descr="Une image contenant carte, texte&#10;&#10;Description générée automatiquement avec une confiance moyenne">
            <a:extLst>
              <a:ext uri="{FF2B5EF4-FFF2-40B4-BE49-F238E27FC236}">
                <a16:creationId xmlns:a16="http://schemas.microsoft.com/office/drawing/2014/main" id="{B74DEF79-0391-D04B-B9A6-5E92181405AF}"/>
              </a:ext>
            </a:extLst>
          </p:cNvPr>
          <p:cNvPicPr>
            <a:picLocks noChangeAspect="1"/>
          </p:cNvPicPr>
          <p:nvPr/>
        </p:nvPicPr>
        <p:blipFill rotWithShape="1">
          <a:blip r:embed="rId3">
            <a:extLst>
              <a:ext uri="{28A0092B-C50C-407E-A947-70E740481C1C}">
                <a14:useLocalDpi xmlns:a14="http://schemas.microsoft.com/office/drawing/2010/main" val="0"/>
              </a:ext>
            </a:extLst>
          </a:blip>
          <a:srcRect r="40848" b="9085"/>
          <a:stretch/>
        </p:blipFill>
        <p:spPr>
          <a:xfrm>
            <a:off x="3523488" y="10"/>
            <a:ext cx="8668512" cy="6857990"/>
          </a:xfrm>
          <a:prstGeom prst="rect">
            <a:avLst/>
          </a:prstGeom>
          <a:effectLst>
            <a:softEdge rad="0"/>
          </a:effectLst>
        </p:spPr>
      </p:pic>
      <p:sp>
        <p:nvSpPr>
          <p:cNvPr id="5" name="Rectangle 4">
            <a:extLst>
              <a:ext uri="{FF2B5EF4-FFF2-40B4-BE49-F238E27FC236}">
                <a16:creationId xmlns:a16="http://schemas.microsoft.com/office/drawing/2014/main" id="{39A0DF7A-BF65-6065-E494-74473B54931A}"/>
              </a:ext>
            </a:extLst>
          </p:cNvPr>
          <p:cNvSpPr/>
          <p:nvPr/>
        </p:nvSpPr>
        <p:spPr>
          <a:xfrm>
            <a:off x="-182880" y="0"/>
            <a:ext cx="7986437" cy="6858000"/>
          </a:xfrm>
          <a:prstGeom prst="rect">
            <a:avLst/>
          </a:prstGeom>
          <a:gradFill>
            <a:gsLst>
              <a:gs pos="47000">
                <a:schemeClr val="accent1">
                  <a:lumMod val="5000"/>
                  <a:lumOff val="95000"/>
                </a:schemeClr>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H"/>
          </a:p>
        </p:txBody>
      </p:sp>
      <p:sp>
        <p:nvSpPr>
          <p:cNvPr id="9" name="Titre 1">
            <a:extLst>
              <a:ext uri="{FF2B5EF4-FFF2-40B4-BE49-F238E27FC236}">
                <a16:creationId xmlns:a16="http://schemas.microsoft.com/office/drawing/2014/main" id="{AB0FBA5A-0FE1-4DCA-9231-D6A69A31472C}"/>
              </a:ext>
            </a:extLst>
          </p:cNvPr>
          <p:cNvSpPr txBox="1">
            <a:spLocks/>
          </p:cNvSpPr>
          <p:nvPr/>
        </p:nvSpPr>
        <p:spPr>
          <a:xfrm>
            <a:off x="838200" y="2467702"/>
            <a:ext cx="10515600" cy="2852737"/>
          </a:xfrm>
          <a:prstGeom prst="rect">
            <a:avLst/>
          </a:prstGeom>
        </p:spPr>
        <p:txBody>
          <a:bodyPr anchor="t"/>
          <a:lstStyle>
            <a:lvl1pPr algn="ctr" defTabSz="914400" rtl="0" eaLnBrk="1" latinLnBrk="0" hangingPunct="1">
              <a:lnSpc>
                <a:spcPct val="90000"/>
              </a:lnSpc>
              <a:spcBef>
                <a:spcPct val="0"/>
              </a:spcBef>
              <a:buNone/>
              <a:defRPr sz="4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algn="l"/>
            <a:r>
              <a:rPr lang="fr-CH" b="1" dirty="0"/>
              <a:t>Géoinformation</a:t>
            </a:r>
          </a:p>
        </p:txBody>
      </p:sp>
    </p:spTree>
    <p:extLst>
      <p:ext uri="{BB962C8B-B14F-4D97-AF65-F5344CB8AC3E}">
        <p14:creationId xmlns:p14="http://schemas.microsoft.com/office/powerpoint/2010/main" val="1229319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contenu 5">
            <a:extLst>
              <a:ext uri="{FF2B5EF4-FFF2-40B4-BE49-F238E27FC236}">
                <a16:creationId xmlns:a16="http://schemas.microsoft.com/office/drawing/2014/main" id="{9C4372BA-3C69-461B-81EE-779A73C74CE7}"/>
              </a:ext>
            </a:extLst>
          </p:cNvPr>
          <p:cNvSpPr txBox="1">
            <a:spLocks/>
          </p:cNvSpPr>
          <p:nvPr/>
        </p:nvSpPr>
        <p:spPr>
          <a:xfrm>
            <a:off x="393790" y="97852"/>
            <a:ext cx="822960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dirty="0"/>
              <a:t>Team</a:t>
            </a:r>
          </a:p>
        </p:txBody>
      </p:sp>
      <p:sp>
        <p:nvSpPr>
          <p:cNvPr id="9" name="ZoneTexte 8">
            <a:extLst>
              <a:ext uri="{FF2B5EF4-FFF2-40B4-BE49-F238E27FC236}">
                <a16:creationId xmlns:a16="http://schemas.microsoft.com/office/drawing/2014/main" id="{AC19C662-0107-4950-8ADA-B7146F8ED442}"/>
              </a:ext>
            </a:extLst>
          </p:cNvPr>
          <p:cNvSpPr txBox="1"/>
          <p:nvPr/>
        </p:nvSpPr>
        <p:spPr>
          <a:xfrm>
            <a:off x="6562903" y="4870880"/>
            <a:ext cx="1394139" cy="830997"/>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Johary</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400" dirty="0">
                <a:latin typeface="Tahoma" panose="020B0604030504040204" pitchFamily="34" charset="0"/>
                <a:cs typeface="Tahoma" panose="020B0604030504040204" pitchFamily="34" charset="0"/>
                <a:sym typeface="Wingdings" panose="05000000000000000000" pitchFamily="2" charset="2"/>
              </a:rPr>
              <a:t>Rakotomalala</a:t>
            </a:r>
          </a:p>
          <a:p>
            <a:r>
              <a:rPr lang="fr-CH" sz="1000" i="1" dirty="0" err="1">
                <a:latin typeface="Tahoma" panose="020B0604030504040204" pitchFamily="34" charset="0"/>
                <a:cs typeface="Tahoma" panose="020B0604030504040204" pitchFamily="34" charset="0"/>
                <a:sym typeface="Wingdings" panose="05000000000000000000" pitchFamily="2" charset="2"/>
              </a:rPr>
              <a:t>Ing</a:t>
            </a:r>
            <a:r>
              <a:rPr lang="fr-CH" sz="1000" i="1" dirty="0">
                <a:latin typeface="Tahoma" panose="020B0604030504040204" pitchFamily="34" charset="0"/>
                <a:cs typeface="Tahoma" panose="020B0604030504040204" pitchFamily="34" charset="0"/>
                <a:sym typeface="Wingdings" panose="05000000000000000000" pitchFamily="2" charset="2"/>
              </a:rPr>
              <a:t>. informatique</a:t>
            </a:r>
            <a:br>
              <a:rPr lang="fr-CH" sz="1000" i="1" dirty="0">
                <a:latin typeface="Tahoma" panose="020B0604030504040204" pitchFamily="34" charset="0"/>
                <a:cs typeface="Tahoma" panose="020B0604030504040204" pitchFamily="34" charset="0"/>
                <a:sym typeface="Wingdings" panose="05000000000000000000" pitchFamily="2" charset="2"/>
              </a:rPr>
            </a:br>
            <a:r>
              <a:rPr lang="fr-CH" sz="1000" i="1" dirty="0">
                <a:latin typeface="Tahoma" panose="020B0604030504040204" pitchFamily="34" charset="0"/>
                <a:cs typeface="Tahoma" panose="020B0604030504040204" pitchFamily="34" charset="0"/>
                <a:sym typeface="Wingdings" panose="05000000000000000000" pitchFamily="2" charset="2"/>
              </a:rPr>
              <a:t>et mathématique</a:t>
            </a:r>
            <a:endParaRPr lang="fr-CH" sz="1000" i="1" dirty="0">
              <a:latin typeface="Tahoma" panose="020B0604030504040204" pitchFamily="34" charset="0"/>
              <a:cs typeface="Tahoma" panose="020B0604030504040204" pitchFamily="34" charset="0"/>
            </a:endParaRPr>
          </a:p>
        </p:txBody>
      </p:sp>
      <p:sp>
        <p:nvSpPr>
          <p:cNvPr id="11" name="ZoneTexte 10">
            <a:extLst>
              <a:ext uri="{FF2B5EF4-FFF2-40B4-BE49-F238E27FC236}">
                <a16:creationId xmlns:a16="http://schemas.microsoft.com/office/drawing/2014/main" id="{F1934E60-CE23-4203-9149-857F1CD21059}"/>
              </a:ext>
            </a:extLst>
          </p:cNvPr>
          <p:cNvSpPr txBox="1"/>
          <p:nvPr/>
        </p:nvSpPr>
        <p:spPr>
          <a:xfrm>
            <a:off x="10243166" y="4870880"/>
            <a:ext cx="1237519" cy="830997"/>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Sébastien</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400" dirty="0">
                <a:latin typeface="Tahoma" panose="020B0604030504040204" pitchFamily="34" charset="0"/>
                <a:cs typeface="Tahoma" panose="020B0604030504040204" pitchFamily="34" charset="0"/>
                <a:sym typeface="Wingdings" panose="05000000000000000000" pitchFamily="2" charset="2"/>
              </a:rPr>
              <a:t>Bujard</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000" i="1" dirty="0">
                <a:latin typeface="Tahoma" panose="020B0604030504040204" pitchFamily="34" charset="0"/>
                <a:cs typeface="Tahoma" panose="020B0604030504040204" pitchFamily="34" charset="0"/>
                <a:sym typeface="Wingdings" panose="05000000000000000000" pitchFamily="2" charset="2"/>
              </a:rPr>
              <a:t>géomaticien (</a:t>
            </a:r>
            <a:r>
              <a:rPr lang="fr-CH" sz="1000" i="1" dirty="0" err="1">
                <a:latin typeface="Tahoma" panose="020B0604030504040204" pitchFamily="34" charset="0"/>
                <a:cs typeface="Tahoma" panose="020B0604030504040204" pitchFamily="34" charset="0"/>
                <a:sym typeface="Wingdings" panose="05000000000000000000" pitchFamily="2" charset="2"/>
              </a:rPr>
              <a:t>géoinformation</a:t>
            </a:r>
            <a:r>
              <a:rPr lang="fr-CH" sz="1000" i="1" dirty="0">
                <a:latin typeface="Tahoma" panose="020B0604030504040204" pitchFamily="34" charset="0"/>
                <a:cs typeface="Tahoma" panose="020B0604030504040204" pitchFamily="34" charset="0"/>
                <a:sym typeface="Wingdings" panose="05000000000000000000" pitchFamily="2" charset="2"/>
              </a:rPr>
              <a:t>)</a:t>
            </a:r>
            <a:endParaRPr lang="fr-CH" sz="1000" i="1" dirty="0">
              <a:latin typeface="Tahoma" panose="020B0604030504040204" pitchFamily="34" charset="0"/>
              <a:cs typeface="Tahoma" panose="020B0604030504040204" pitchFamily="34" charset="0"/>
            </a:endParaRPr>
          </a:p>
        </p:txBody>
      </p:sp>
      <p:sp>
        <p:nvSpPr>
          <p:cNvPr id="13" name="ZoneTexte 12">
            <a:extLst>
              <a:ext uri="{FF2B5EF4-FFF2-40B4-BE49-F238E27FC236}">
                <a16:creationId xmlns:a16="http://schemas.microsoft.com/office/drawing/2014/main" id="{4E9FF066-8CB3-4DD4-BFC4-038672E9FD9B}"/>
              </a:ext>
            </a:extLst>
          </p:cNvPr>
          <p:cNvSpPr txBox="1"/>
          <p:nvPr/>
        </p:nvSpPr>
        <p:spPr>
          <a:xfrm>
            <a:off x="2905918" y="4716992"/>
            <a:ext cx="1237519" cy="984885"/>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Tsolmongerel</a:t>
            </a:r>
          </a:p>
          <a:p>
            <a:r>
              <a:rPr lang="fr-CH" sz="1400" dirty="0">
                <a:latin typeface="Tahoma" panose="020B0604030504040204" pitchFamily="34" charset="0"/>
                <a:cs typeface="Tahoma" panose="020B0604030504040204" pitchFamily="34" charset="0"/>
                <a:sym typeface="Wingdings" panose="05000000000000000000" pitchFamily="2" charset="2"/>
              </a:rPr>
              <a:t>Papilloud</a:t>
            </a:r>
          </a:p>
          <a:p>
            <a:r>
              <a:rPr lang="fr-CH" sz="1000" i="1" dirty="0">
                <a:latin typeface="Tahoma" panose="020B0604030504040204" pitchFamily="34" charset="0"/>
                <a:cs typeface="Tahoma" panose="020B0604030504040204" pitchFamily="34" charset="0"/>
                <a:sym typeface="Wingdings" panose="05000000000000000000" pitchFamily="2" charset="2"/>
              </a:rPr>
              <a:t>Spécialiste géoinformatique (PhD)</a:t>
            </a:r>
            <a:endParaRPr lang="fr-CH" sz="1000" i="1" dirty="0">
              <a:latin typeface="Tahoma" panose="020B0604030504040204" pitchFamily="34" charset="0"/>
              <a:cs typeface="Tahoma" panose="020B0604030504040204" pitchFamily="34" charset="0"/>
            </a:endParaRPr>
          </a:p>
        </p:txBody>
      </p:sp>
      <p:sp>
        <p:nvSpPr>
          <p:cNvPr id="15" name="ZoneTexte 14">
            <a:extLst>
              <a:ext uri="{FF2B5EF4-FFF2-40B4-BE49-F238E27FC236}">
                <a16:creationId xmlns:a16="http://schemas.microsoft.com/office/drawing/2014/main" id="{0EEF975A-9CE0-48C0-9956-B6D1AD5BF728}"/>
              </a:ext>
            </a:extLst>
          </p:cNvPr>
          <p:cNvSpPr txBox="1"/>
          <p:nvPr/>
        </p:nvSpPr>
        <p:spPr>
          <a:xfrm>
            <a:off x="2926176" y="2292213"/>
            <a:ext cx="1237519" cy="830997"/>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Stany</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400" dirty="0">
                <a:latin typeface="Tahoma" panose="020B0604030504040204" pitchFamily="34" charset="0"/>
                <a:cs typeface="Tahoma" panose="020B0604030504040204" pitchFamily="34" charset="0"/>
                <a:sym typeface="Wingdings" panose="05000000000000000000" pitchFamily="2" charset="2"/>
              </a:rPr>
              <a:t>Luyet</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000" i="1" dirty="0" err="1">
                <a:latin typeface="Tahoma" panose="020B0604030504040204" pitchFamily="34" charset="0"/>
                <a:cs typeface="Tahoma" panose="020B0604030504040204" pitchFamily="34" charset="0"/>
                <a:sym typeface="Wingdings" panose="05000000000000000000" pitchFamily="2" charset="2"/>
              </a:rPr>
              <a:t>Ing</a:t>
            </a:r>
            <a:r>
              <a:rPr lang="fr-CH" sz="1000" i="1" dirty="0">
                <a:latin typeface="Tahoma" panose="020B0604030504040204" pitchFamily="34" charset="0"/>
                <a:cs typeface="Tahoma" panose="020B0604030504040204" pitchFamily="34" charset="0"/>
                <a:sym typeface="Wingdings" panose="05000000000000000000" pitchFamily="2" charset="2"/>
              </a:rPr>
              <a:t>. HES</a:t>
            </a:r>
            <a:br>
              <a:rPr lang="fr-CH" sz="1000" i="1" dirty="0">
                <a:latin typeface="Tahoma" panose="020B0604030504040204" pitchFamily="34" charset="0"/>
                <a:cs typeface="Tahoma" panose="020B0604030504040204" pitchFamily="34" charset="0"/>
                <a:sym typeface="Wingdings" panose="05000000000000000000" pitchFamily="2" charset="2"/>
              </a:rPr>
            </a:br>
            <a:r>
              <a:rPr lang="fr-CH" sz="1000" i="1" dirty="0">
                <a:latin typeface="Tahoma" panose="020B0604030504040204" pitchFamily="34" charset="0"/>
                <a:cs typeface="Tahoma" panose="020B0604030504040204" pitchFamily="34" charset="0"/>
                <a:sym typeface="Wingdings" panose="05000000000000000000" pitchFamily="2" charset="2"/>
              </a:rPr>
              <a:t>Directeur</a:t>
            </a:r>
            <a:endParaRPr lang="fr-CH" sz="1000" i="1" dirty="0">
              <a:latin typeface="Tahoma" panose="020B0604030504040204" pitchFamily="34" charset="0"/>
              <a:cs typeface="Tahoma" panose="020B0604030504040204" pitchFamily="34" charset="0"/>
            </a:endParaRPr>
          </a:p>
        </p:txBody>
      </p:sp>
      <p:sp>
        <p:nvSpPr>
          <p:cNvPr id="16" name="ZoneTexte 15">
            <a:extLst>
              <a:ext uri="{FF2B5EF4-FFF2-40B4-BE49-F238E27FC236}">
                <a16:creationId xmlns:a16="http://schemas.microsoft.com/office/drawing/2014/main" id="{9EC7A543-43DA-41A1-8448-4EBCE9D8C5BC}"/>
              </a:ext>
            </a:extLst>
          </p:cNvPr>
          <p:cNvSpPr txBox="1"/>
          <p:nvPr/>
        </p:nvSpPr>
        <p:spPr>
          <a:xfrm>
            <a:off x="6583072" y="2251003"/>
            <a:ext cx="1237519" cy="830997"/>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Timothée</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400" dirty="0">
                <a:latin typeface="Tahoma" panose="020B0604030504040204" pitchFamily="34" charset="0"/>
                <a:cs typeface="Tahoma" panose="020B0604030504040204" pitchFamily="34" charset="0"/>
                <a:sym typeface="Wingdings" panose="05000000000000000000" pitchFamily="2" charset="2"/>
              </a:rPr>
              <a:t>Produit</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000" i="1" dirty="0" err="1">
                <a:latin typeface="Tahoma" panose="020B0604030504040204" pitchFamily="34" charset="0"/>
                <a:cs typeface="Tahoma" panose="020B0604030504040204" pitchFamily="34" charset="0"/>
                <a:sym typeface="Wingdings" panose="05000000000000000000" pitchFamily="2" charset="2"/>
              </a:rPr>
              <a:t>Ing</a:t>
            </a:r>
            <a:r>
              <a:rPr lang="fr-CH" sz="1000" i="1" dirty="0">
                <a:latin typeface="Tahoma" panose="020B0604030504040204" pitchFamily="34" charset="0"/>
                <a:cs typeface="Tahoma" panose="020B0604030504040204" pitchFamily="34" charset="0"/>
                <a:sym typeface="Wingdings" panose="05000000000000000000" pitchFamily="2" charset="2"/>
              </a:rPr>
              <a:t>. EPF (PhD)</a:t>
            </a:r>
            <a:br>
              <a:rPr lang="fr-CH" sz="1000" i="1" dirty="0">
                <a:latin typeface="Tahoma" panose="020B0604030504040204" pitchFamily="34" charset="0"/>
                <a:cs typeface="Tahoma" panose="020B0604030504040204" pitchFamily="34" charset="0"/>
                <a:sym typeface="Wingdings" panose="05000000000000000000" pitchFamily="2" charset="2"/>
              </a:rPr>
            </a:br>
            <a:r>
              <a:rPr lang="fr-CH" sz="1000" i="1" dirty="0" err="1">
                <a:latin typeface="Tahoma" panose="020B0604030504040204" pitchFamily="34" charset="0"/>
                <a:cs typeface="Tahoma" panose="020B0604030504040204" pitchFamily="34" charset="0"/>
                <a:sym typeface="Wingdings" panose="05000000000000000000" pitchFamily="2" charset="2"/>
              </a:rPr>
              <a:t>Dir</a:t>
            </a:r>
            <a:r>
              <a:rPr lang="fr-CH" sz="1000" i="1" dirty="0">
                <a:latin typeface="Tahoma" panose="020B0604030504040204" pitchFamily="34" charset="0"/>
                <a:cs typeface="Tahoma" panose="020B0604030504040204" pitchFamily="34" charset="0"/>
                <a:sym typeface="Wingdings" panose="05000000000000000000" pitchFamily="2" charset="2"/>
              </a:rPr>
              <a:t>. technique</a:t>
            </a:r>
            <a:endParaRPr lang="fr-CH" sz="1000" i="1" dirty="0">
              <a:latin typeface="Tahoma" panose="020B0604030504040204" pitchFamily="34" charset="0"/>
              <a:cs typeface="Tahoma" panose="020B0604030504040204" pitchFamily="34" charset="0"/>
            </a:endParaRPr>
          </a:p>
        </p:txBody>
      </p:sp>
      <p:pic>
        <p:nvPicPr>
          <p:cNvPr id="3" name="Image 2" descr="Une image contenant personne, Visage humain, habits, sourire&#10;&#10;Description générée automatiquement">
            <a:extLst>
              <a:ext uri="{FF2B5EF4-FFF2-40B4-BE49-F238E27FC236}">
                <a16:creationId xmlns:a16="http://schemas.microsoft.com/office/drawing/2014/main" id="{A52293C5-B6E8-E318-79BB-1F2152CF2C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6931" y="718456"/>
            <a:ext cx="1923804" cy="2404754"/>
          </a:xfrm>
          <a:prstGeom prst="rect">
            <a:avLst/>
          </a:prstGeom>
        </p:spPr>
      </p:pic>
      <p:pic>
        <p:nvPicPr>
          <p:cNvPr id="5" name="Image 4" descr="Une image contenant habits, Visage humain, personne, cou&#10;&#10;Description générée automatiquement">
            <a:extLst>
              <a:ext uri="{FF2B5EF4-FFF2-40B4-BE49-F238E27FC236}">
                <a16:creationId xmlns:a16="http://schemas.microsoft.com/office/drawing/2014/main" id="{6CB072A9-6535-97CA-19CB-883A1FE8B6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7410" y="718456"/>
            <a:ext cx="1923804" cy="2404754"/>
          </a:xfrm>
          <a:prstGeom prst="rect">
            <a:avLst/>
          </a:prstGeom>
        </p:spPr>
      </p:pic>
      <p:pic>
        <p:nvPicPr>
          <p:cNvPr id="10" name="Image 9" descr="Une image contenant Visage humain, habits, personne, sourire&#10;&#10;Description générée automatiquement">
            <a:extLst>
              <a:ext uri="{FF2B5EF4-FFF2-40B4-BE49-F238E27FC236}">
                <a16:creationId xmlns:a16="http://schemas.microsoft.com/office/drawing/2014/main" id="{5B31B69B-4124-D7C4-E2DC-F911F800BF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6931" y="3297123"/>
            <a:ext cx="1923804" cy="2404754"/>
          </a:xfrm>
          <a:prstGeom prst="rect">
            <a:avLst/>
          </a:prstGeom>
        </p:spPr>
      </p:pic>
      <p:pic>
        <p:nvPicPr>
          <p:cNvPr id="17" name="Image 16" descr="Une image contenant habits, Visage humain, tissu, personne&#10;&#10;Description générée automatiquement">
            <a:extLst>
              <a:ext uri="{FF2B5EF4-FFF2-40B4-BE49-F238E27FC236}">
                <a16:creationId xmlns:a16="http://schemas.microsoft.com/office/drawing/2014/main" id="{AB280E11-0500-E669-7316-DB917CF6581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57410" y="3297123"/>
            <a:ext cx="1923804" cy="2404754"/>
          </a:xfrm>
          <a:prstGeom prst="rect">
            <a:avLst/>
          </a:prstGeom>
        </p:spPr>
      </p:pic>
      <p:pic>
        <p:nvPicPr>
          <p:cNvPr id="19" name="Image 18" descr="Une image contenant Visage humain, personne, verres, habits&#10;&#10;Description générée automatiquement">
            <a:extLst>
              <a:ext uri="{FF2B5EF4-FFF2-40B4-BE49-F238E27FC236}">
                <a16:creationId xmlns:a16="http://schemas.microsoft.com/office/drawing/2014/main" id="{2F0385CD-5C3A-9AF4-BC2E-4A330D01BA6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19363" y="718456"/>
            <a:ext cx="1923804" cy="2404754"/>
          </a:xfrm>
          <a:prstGeom prst="rect">
            <a:avLst/>
          </a:prstGeom>
        </p:spPr>
      </p:pic>
      <p:pic>
        <p:nvPicPr>
          <p:cNvPr id="21" name="Image 20" descr="Une image contenant habits, Visage humain, personne, homme&#10;&#10;Description générée automatiquement">
            <a:extLst>
              <a:ext uri="{FF2B5EF4-FFF2-40B4-BE49-F238E27FC236}">
                <a16:creationId xmlns:a16="http://schemas.microsoft.com/office/drawing/2014/main" id="{46655EBD-1441-CCE7-B4BA-AE5DF6E354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19363" y="3297123"/>
            <a:ext cx="1923804" cy="2404754"/>
          </a:xfrm>
          <a:prstGeom prst="rect">
            <a:avLst/>
          </a:prstGeom>
        </p:spPr>
      </p:pic>
      <p:sp>
        <p:nvSpPr>
          <p:cNvPr id="22" name="ZoneTexte 21">
            <a:extLst>
              <a:ext uri="{FF2B5EF4-FFF2-40B4-BE49-F238E27FC236}">
                <a16:creationId xmlns:a16="http://schemas.microsoft.com/office/drawing/2014/main" id="{179F5CE7-7ED7-6A66-A60B-F8D706474DC7}"/>
              </a:ext>
            </a:extLst>
          </p:cNvPr>
          <p:cNvSpPr txBox="1"/>
          <p:nvPr/>
        </p:nvSpPr>
        <p:spPr>
          <a:xfrm>
            <a:off x="10243166" y="2174058"/>
            <a:ext cx="1237519" cy="984885"/>
          </a:xfrm>
          <a:prstGeom prst="rect">
            <a:avLst/>
          </a:prstGeom>
          <a:noFill/>
        </p:spPr>
        <p:txBody>
          <a:bodyPr wrap="square" rtlCol="0">
            <a:spAutoFit/>
          </a:bodyPr>
          <a:lstStyle/>
          <a:p>
            <a:r>
              <a:rPr lang="fr-CH" sz="1400" dirty="0">
                <a:latin typeface="Tahoma" panose="020B0604030504040204" pitchFamily="34" charset="0"/>
                <a:cs typeface="Tahoma" panose="020B0604030504040204" pitchFamily="34" charset="0"/>
                <a:sym typeface="Wingdings" panose="05000000000000000000" pitchFamily="2" charset="2"/>
              </a:rPr>
              <a:t>Laura</a:t>
            </a:r>
          </a:p>
          <a:p>
            <a:r>
              <a:rPr lang="fr-CH" sz="1400" dirty="0">
                <a:latin typeface="Tahoma" panose="020B0604030504040204" pitchFamily="34" charset="0"/>
                <a:cs typeface="Tahoma" panose="020B0604030504040204" pitchFamily="34" charset="0"/>
                <a:sym typeface="Wingdings" panose="05000000000000000000" pitchFamily="2" charset="2"/>
              </a:rPr>
              <a:t>Fardel</a:t>
            </a:r>
            <a:br>
              <a:rPr lang="fr-CH" sz="1400" dirty="0">
                <a:latin typeface="Tahoma" panose="020B0604030504040204" pitchFamily="34" charset="0"/>
                <a:cs typeface="Tahoma" panose="020B0604030504040204" pitchFamily="34" charset="0"/>
                <a:sym typeface="Wingdings" panose="05000000000000000000" pitchFamily="2" charset="2"/>
              </a:rPr>
            </a:br>
            <a:r>
              <a:rPr lang="fr-CH" sz="1000" i="1" dirty="0" err="1">
                <a:latin typeface="Tahoma" panose="020B0604030504040204" pitchFamily="34" charset="0"/>
                <a:cs typeface="Tahoma" panose="020B0604030504040204" pitchFamily="34" charset="0"/>
                <a:sym typeface="Wingdings" panose="05000000000000000000" pitchFamily="2" charset="2"/>
              </a:rPr>
              <a:t>Ing</a:t>
            </a:r>
            <a:r>
              <a:rPr lang="fr-CH" sz="1000" i="1" dirty="0">
                <a:latin typeface="Tahoma" panose="020B0604030504040204" pitchFamily="34" charset="0"/>
                <a:cs typeface="Tahoma" panose="020B0604030504040204" pitchFamily="34" charset="0"/>
                <a:sym typeface="Wingdings" panose="05000000000000000000" pitchFamily="2" charset="2"/>
              </a:rPr>
              <a:t>. HES</a:t>
            </a:r>
            <a:br>
              <a:rPr lang="fr-CH" sz="1000" i="1" dirty="0">
                <a:latin typeface="Tahoma" panose="020B0604030504040204" pitchFamily="34" charset="0"/>
                <a:cs typeface="Tahoma" panose="020B0604030504040204" pitchFamily="34" charset="0"/>
                <a:sym typeface="Wingdings" panose="05000000000000000000" pitchFamily="2" charset="2"/>
              </a:rPr>
            </a:br>
            <a:r>
              <a:rPr lang="fr-CH" sz="1000" i="1" dirty="0">
                <a:latin typeface="Tahoma" panose="020B0604030504040204" pitchFamily="34" charset="0"/>
                <a:cs typeface="Tahoma" panose="020B0604030504040204" pitchFamily="34" charset="0"/>
                <a:sym typeface="Wingdings" panose="05000000000000000000" pitchFamily="2" charset="2"/>
              </a:rPr>
              <a:t>Administration </a:t>
            </a:r>
            <a:r>
              <a:rPr lang="fr-CH" sz="1000" i="1" dirty="0" err="1">
                <a:latin typeface="Tahoma" panose="020B0604030504040204" pitchFamily="34" charset="0"/>
                <a:cs typeface="Tahoma" panose="020B0604030504040204" pitchFamily="34" charset="0"/>
                <a:sym typeface="Wingdings" panose="05000000000000000000" pitchFamily="2" charset="2"/>
              </a:rPr>
              <a:t>géoportails</a:t>
            </a:r>
            <a:endParaRPr lang="fr-CH" sz="1000" i="1" dirty="0">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1243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3E3E40D0-E78B-46EA-AE55-0E3C4124BA9B}"/>
              </a:ext>
            </a:extLst>
          </p:cNvPr>
          <p:cNvSpPr txBox="1"/>
          <p:nvPr/>
        </p:nvSpPr>
        <p:spPr>
          <a:xfrm>
            <a:off x="1486592" y="1404410"/>
            <a:ext cx="9216517" cy="50029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Géoportails communaux</a:t>
            </a:r>
          </a:p>
          <a:p>
            <a:pPr marL="742950" lvl="1"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Cadastres souterrains</a:t>
            </a:r>
          </a:p>
          <a:p>
            <a:pPr marL="285750" lvl="1"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Données spatiales (migration – gestion – analyse)</a:t>
            </a:r>
          </a:p>
          <a:p>
            <a:pPr marL="285750" lvl="1"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Bases de données administratives</a:t>
            </a:r>
          </a:p>
          <a:p>
            <a:pPr marL="285750" lvl="1" indent="-285750">
              <a:lnSpc>
                <a:spcPct val="150000"/>
              </a:lnSpc>
              <a:buFont typeface="Arial" panose="020B0604020202020204" pitchFamily="34" charset="0"/>
              <a:buChar char="•"/>
            </a:pPr>
            <a:endParaRPr lang="fr-CH" sz="2400" dirty="0">
              <a:latin typeface="Tahoma" panose="020B0604030504040204" pitchFamily="34" charset="0"/>
              <a:ea typeface="Tahoma" panose="020B0604030504040204" pitchFamily="34" charset="0"/>
              <a:cs typeface="Tahoma" panose="020B0604030504040204" pitchFamily="34" charset="0"/>
            </a:endParaRPr>
          </a:p>
          <a:p>
            <a:pPr marL="285750" lvl="1"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Développement de solutions cartographiques (web et desktop) </a:t>
            </a:r>
          </a:p>
          <a:p>
            <a:pPr marL="285750"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IOT / </a:t>
            </a:r>
            <a:r>
              <a:rPr lang="fr-CH" sz="2400" dirty="0" err="1">
                <a:latin typeface="Tahoma" panose="020B0604030504040204" pitchFamily="34" charset="0"/>
                <a:ea typeface="Tahoma" panose="020B0604030504040204" pitchFamily="34" charset="0"/>
                <a:cs typeface="Tahoma" panose="020B0604030504040204" pitchFamily="34" charset="0"/>
              </a:rPr>
              <a:t>smartcity</a:t>
            </a:r>
            <a:endParaRPr lang="fr-CH" sz="2400" dirty="0">
              <a:latin typeface="Tahoma" panose="020B0604030504040204" pitchFamily="34" charset="0"/>
              <a:ea typeface="Tahoma" panose="020B0604030504040204" pitchFamily="34" charset="0"/>
              <a:cs typeface="Tahoma" panose="020B0604030504040204" pitchFamily="34" charset="0"/>
            </a:endParaRPr>
          </a:p>
          <a:p>
            <a:pPr marL="285750" indent="-285750">
              <a:lnSpc>
                <a:spcPct val="150000"/>
              </a:lnSpc>
              <a:buFont typeface="Arial" panose="020B0604020202020204" pitchFamily="34" charset="0"/>
              <a:buChar char="•"/>
            </a:pPr>
            <a:r>
              <a:rPr lang="fr-CH" sz="2400" dirty="0" err="1">
                <a:latin typeface="Tahoma" panose="020B0604030504040204" pitchFamily="34" charset="0"/>
                <a:ea typeface="Tahoma" panose="020B0604030504040204" pitchFamily="34" charset="0"/>
                <a:cs typeface="Tahoma" panose="020B0604030504040204" pitchFamily="34" charset="0"/>
              </a:rPr>
              <a:t>Geodata</a:t>
            </a:r>
            <a:r>
              <a:rPr lang="fr-CH" sz="2400" dirty="0">
                <a:latin typeface="Tahoma" panose="020B0604030504040204" pitchFamily="34" charset="0"/>
                <a:ea typeface="Tahoma" panose="020B0604030504040204" pitchFamily="34" charset="0"/>
                <a:cs typeface="Tahoma" panose="020B0604030504040204" pitchFamily="34" charset="0"/>
              </a:rPr>
              <a:t> science – Analyses spatiales</a:t>
            </a:r>
          </a:p>
          <a:p>
            <a:pPr marL="285750" indent="-285750">
              <a:lnSpc>
                <a:spcPct val="150000"/>
              </a:lnSpc>
              <a:buFont typeface="Arial" panose="020B0604020202020204" pitchFamily="34" charset="0"/>
              <a:buChar char="•"/>
            </a:pPr>
            <a:r>
              <a:rPr lang="fr-CH" sz="2400" dirty="0">
                <a:latin typeface="Tahoma" panose="020B0604030504040204" pitchFamily="34" charset="0"/>
                <a:ea typeface="Tahoma" panose="020B0604030504040204" pitchFamily="34" charset="0"/>
                <a:cs typeface="Tahoma" panose="020B0604030504040204" pitchFamily="34" charset="0"/>
              </a:rPr>
              <a:t>Gestion de projets en lien avec la géoinformatique</a:t>
            </a:r>
          </a:p>
        </p:txBody>
      </p:sp>
      <p:sp>
        <p:nvSpPr>
          <p:cNvPr id="2" name="Espace réservé du contenu 5">
            <a:extLst>
              <a:ext uri="{FF2B5EF4-FFF2-40B4-BE49-F238E27FC236}">
                <a16:creationId xmlns:a16="http://schemas.microsoft.com/office/drawing/2014/main" id="{3274413B-A6F4-DC4E-1691-D018A14308A6}"/>
              </a:ext>
            </a:extLst>
          </p:cNvPr>
          <p:cNvSpPr txBox="1">
            <a:spLocks/>
          </p:cNvSpPr>
          <p:nvPr/>
        </p:nvSpPr>
        <p:spPr>
          <a:xfrm>
            <a:off x="786551" y="493625"/>
            <a:ext cx="822960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Services</a:t>
            </a:r>
          </a:p>
        </p:txBody>
      </p:sp>
    </p:spTree>
    <p:extLst>
      <p:ext uri="{BB962C8B-B14F-4D97-AF65-F5344CB8AC3E}">
        <p14:creationId xmlns:p14="http://schemas.microsoft.com/office/powerpoint/2010/main" val="1213026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11820" y="2423055"/>
            <a:ext cx="5036112" cy="4351338"/>
          </a:xfrm>
        </p:spPr>
        <p:txBody>
          <a:bodyPr/>
          <a:lstStyle/>
          <a:p>
            <a:pPr marL="0" indent="0">
              <a:buNone/>
            </a:pPr>
            <a:r>
              <a:rPr lang="de-CH" b="1" dirty="0"/>
              <a:t>QGIS</a:t>
            </a:r>
          </a:p>
          <a:p>
            <a:r>
              <a:rPr lang="de-CH" dirty="0" err="1"/>
              <a:t>Coût</a:t>
            </a:r>
            <a:endParaRPr lang="de-CH" dirty="0"/>
          </a:p>
          <a:p>
            <a:r>
              <a:rPr lang="de-CH" dirty="0"/>
              <a:t>Communauté et support </a:t>
            </a:r>
            <a:r>
              <a:rPr lang="de-CH" dirty="0" err="1"/>
              <a:t>communautaire</a:t>
            </a:r>
            <a:endParaRPr lang="de-CH" dirty="0"/>
          </a:p>
          <a:p>
            <a:r>
              <a:rPr lang="de-CH" dirty="0" err="1"/>
              <a:t>Flexibilité</a:t>
            </a:r>
            <a:endParaRPr lang="de-CH" dirty="0"/>
          </a:p>
          <a:p>
            <a:r>
              <a:rPr lang="de-CH" dirty="0" err="1"/>
              <a:t>Interopréabilité</a:t>
            </a:r>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8D9ED6BB-6BE6-C0B4-2B78-E8F001A17622}"/>
              </a:ext>
            </a:extLst>
          </p:cNvPr>
          <p:cNvSpPr txBox="1">
            <a:spLocks/>
          </p:cNvSpPr>
          <p:nvPr/>
        </p:nvSpPr>
        <p:spPr>
          <a:xfrm>
            <a:off x="6269711" y="2471509"/>
            <a:ext cx="503611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ArcGIS</a:t>
            </a:r>
          </a:p>
          <a:p>
            <a:r>
              <a:rPr lang="de-CH" dirty="0" err="1"/>
              <a:t>Fonctionnalités</a:t>
            </a:r>
            <a:r>
              <a:rPr lang="de-CH" dirty="0"/>
              <a:t> </a:t>
            </a:r>
            <a:r>
              <a:rPr lang="de-CH" dirty="0" err="1"/>
              <a:t>avancées</a:t>
            </a:r>
            <a:endParaRPr lang="de-CH" dirty="0"/>
          </a:p>
          <a:p>
            <a:r>
              <a:rPr lang="de-CH" dirty="0"/>
              <a:t>Interface </a:t>
            </a:r>
            <a:r>
              <a:rPr lang="de-CH" dirty="0" err="1"/>
              <a:t>utilisateur</a:t>
            </a:r>
            <a:endParaRPr lang="de-CH" dirty="0"/>
          </a:p>
          <a:p>
            <a:r>
              <a:rPr lang="de-CH" dirty="0"/>
              <a:t>Support </a:t>
            </a:r>
            <a:r>
              <a:rPr lang="de-CH" dirty="0" err="1"/>
              <a:t>professionnel</a:t>
            </a:r>
            <a:endParaRPr lang="de-CH" dirty="0"/>
          </a:p>
          <a:p>
            <a:r>
              <a:rPr lang="de-CH" dirty="0"/>
              <a:t>Performance de </a:t>
            </a:r>
            <a:r>
              <a:rPr lang="de-CH" dirty="0" err="1"/>
              <a:t>calcul</a:t>
            </a:r>
            <a:endParaRPr lang="fr-CH" dirty="0"/>
          </a:p>
        </p:txBody>
      </p:sp>
      <p:pic>
        <p:nvPicPr>
          <p:cNvPr id="9" name="Image 8" descr="Une image contenant texte, logo, Police, Graphique&#10;&#10;Description générée automatiquement">
            <a:extLst>
              <a:ext uri="{FF2B5EF4-FFF2-40B4-BE49-F238E27FC236}">
                <a16:creationId xmlns:a16="http://schemas.microsoft.com/office/drawing/2014/main" id="{5F16C1E9-BB4E-9811-5CB7-DBF8902C65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81525" y="482864"/>
            <a:ext cx="3028950" cy="1504950"/>
          </a:xfrm>
          <a:prstGeom prst="rect">
            <a:avLst/>
          </a:prstGeom>
        </p:spPr>
      </p:pic>
    </p:spTree>
    <p:extLst>
      <p:ext uri="{BB962C8B-B14F-4D97-AF65-F5344CB8AC3E}">
        <p14:creationId xmlns:p14="http://schemas.microsoft.com/office/powerpoint/2010/main" val="4003760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427854"/>
            <a:ext cx="10661672" cy="4351338"/>
          </a:xfrm>
        </p:spPr>
        <p:txBody>
          <a:bodyPr/>
          <a:lstStyle/>
          <a:p>
            <a:pPr marL="0" indent="0">
              <a:buNone/>
            </a:pPr>
            <a:r>
              <a:rPr lang="de-CH" b="1" dirty="0" err="1"/>
              <a:t>Ressources</a:t>
            </a:r>
            <a:endParaRPr lang="de-CH" b="1" dirty="0"/>
          </a:p>
          <a:p>
            <a:r>
              <a:rPr lang="de-CH" dirty="0">
                <a:hlinkClick r:id="rId3"/>
              </a:rPr>
              <a:t>Aide en </a:t>
            </a:r>
            <a:r>
              <a:rPr lang="de-CH" dirty="0" err="1">
                <a:hlinkClick r:id="rId3"/>
              </a:rPr>
              <a:t>ligne</a:t>
            </a:r>
            <a:endParaRPr lang="de-CH" dirty="0"/>
          </a:p>
          <a:p>
            <a:r>
              <a:rPr lang="de-CH" dirty="0">
                <a:hlinkClick r:id="rId4"/>
              </a:rPr>
              <a:t>QGIS.ch</a:t>
            </a:r>
            <a:endParaRPr lang="de-CH" dirty="0"/>
          </a:p>
          <a:p>
            <a:r>
              <a:rPr lang="fr-CH" dirty="0">
                <a:hlinkClick r:id="rId5"/>
              </a:rPr>
              <a:t>Formation QGIS Jura</a:t>
            </a:r>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6"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3700930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1512928"/>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1597187"/>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Aller dans le dossier d’exercice</a:t>
            </a:r>
          </a:p>
          <a:p>
            <a:r>
              <a:rPr lang="fr-FR" dirty="0"/>
              <a:t>Double cliquer </a:t>
            </a:r>
            <a:r>
              <a:rPr lang="fr-FR" i="1" dirty="0" err="1"/>
              <a:t>tutoriel.qgz</a:t>
            </a:r>
            <a:endParaRPr lang="fr-FR" i="1" dirty="0"/>
          </a:p>
        </p:txBody>
      </p:sp>
    </p:spTree>
    <p:extLst>
      <p:ext uri="{BB962C8B-B14F-4D97-AF65-F5344CB8AC3E}">
        <p14:creationId xmlns:p14="http://schemas.microsoft.com/office/powerpoint/2010/main" val="4012398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427854"/>
            <a:ext cx="10661672" cy="4351338"/>
          </a:xfrm>
        </p:spPr>
        <p:txBody>
          <a:bodyPr/>
          <a:lstStyle/>
          <a:p>
            <a:r>
              <a:rPr lang="de-CH" b="1"/>
              <a:t>QGS / QGZ</a:t>
            </a:r>
          </a:p>
          <a:p>
            <a:r>
              <a:rPr lang="de-CH" b="1" dirty="0"/>
              <a:t>Interface</a:t>
            </a:r>
          </a:p>
          <a:p>
            <a:pPr lvl="1"/>
            <a:r>
              <a:rPr lang="fr-CH" dirty="0"/>
              <a:t>Menus</a:t>
            </a:r>
          </a:p>
          <a:p>
            <a:pPr lvl="1"/>
            <a:r>
              <a:rPr lang="fr-CH" dirty="0"/>
              <a:t>Barre d’Outils (Vue &gt; Barre d’outils)</a:t>
            </a:r>
          </a:p>
          <a:p>
            <a:pPr lvl="1"/>
            <a:r>
              <a:rPr lang="fr-CH" dirty="0"/>
              <a:t>Couches</a:t>
            </a:r>
          </a:p>
          <a:p>
            <a:pPr lvl="1"/>
            <a:r>
              <a:rPr lang="fr-CH" dirty="0"/>
              <a:t>Résultats de l’identification (Vue &gt; Panneaux)</a:t>
            </a:r>
          </a:p>
          <a:p>
            <a:pPr lvl="1"/>
            <a:r>
              <a:rPr lang="fr-CH" dirty="0"/>
              <a:t>Fond</a:t>
            </a:r>
          </a:p>
          <a:p>
            <a:pPr lvl="2"/>
            <a:r>
              <a:rPr lang="fr-CH" dirty="0"/>
              <a:t>Barre de recherche</a:t>
            </a:r>
          </a:p>
          <a:p>
            <a:pPr lvl="2"/>
            <a:r>
              <a:rPr lang="fr-CH" dirty="0"/>
              <a:t>Informations de la carte</a:t>
            </a:r>
          </a:p>
          <a:p>
            <a:pPr lvl="1"/>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344564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427854"/>
            <a:ext cx="4669809" cy="4351338"/>
          </a:xfrm>
        </p:spPr>
        <p:txBody>
          <a:bodyPr/>
          <a:lstStyle/>
          <a:p>
            <a:r>
              <a:rPr lang="de-CH" b="1" dirty="0" err="1"/>
              <a:t>Configuration</a:t>
            </a:r>
            <a:r>
              <a:rPr lang="de-CH" b="1" dirty="0"/>
              <a:t> CH</a:t>
            </a:r>
          </a:p>
          <a:p>
            <a:pPr lvl="1"/>
            <a:r>
              <a:rPr lang="de-CH" dirty="0"/>
              <a:t>SCR par </a:t>
            </a:r>
            <a:r>
              <a:rPr lang="de-CH" dirty="0" err="1"/>
              <a:t>défaut</a:t>
            </a:r>
            <a:endParaRPr lang="de-CH" dirty="0"/>
          </a:p>
          <a:p>
            <a:pPr lvl="1"/>
            <a:r>
              <a:rPr lang="fr-CH" dirty="0" err="1"/>
              <a:t>Swiss</a:t>
            </a:r>
            <a:r>
              <a:rPr lang="fr-CH" dirty="0"/>
              <a:t> Locator</a:t>
            </a:r>
          </a:p>
          <a:p>
            <a:pPr lvl="2"/>
            <a:r>
              <a:rPr lang="fr-CH" dirty="0"/>
              <a:t>Extensions &gt; Toutes &gt; </a:t>
            </a:r>
            <a:r>
              <a:rPr lang="fr-CH" dirty="0" err="1"/>
              <a:t>Swisslocator</a:t>
            </a:r>
            <a:endParaRPr lang="fr-CH" dirty="0"/>
          </a:p>
          <a:p>
            <a:pPr lvl="2"/>
            <a:r>
              <a:rPr lang="fr-CH" dirty="0"/>
              <a:t>Explication </a:t>
            </a:r>
            <a:r>
              <a:rPr lang="fr-CH" dirty="0" err="1"/>
              <a:t>Swiss</a:t>
            </a:r>
            <a:r>
              <a:rPr lang="fr-CH" dirty="0"/>
              <a:t> Locator</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1025" name="Picture 1" descr="Q Options I SCR &#10;Z/ &#10;Système &#10;SCR &#10;Sources de &#10;données &#10;Rendu &#10;Canevas et &#10;légende &#10;Outils &#10;cartographiques &#10;Couleurs &#10;Numérisation &#10;Mises en page &#10;GDAL &#10;Variables &#10;Authentification &#10;x &#10;v SCR pour les projets &#10;Lorsqu'un nouveau projet est créé &#10;• utiliser le SCR par défaut EPSG:2056 - CH1903+ / LV95 &#10;v SCR pour les couches &#10;SCR par défaut pour les couches &#10;EPSG:2056 - CH1903+ / LV95 &#10;Quand une nouvelle couche est créée ou quand une cou e e &#10;arg sans &#10;O &#10;Laisser comme un SCR inconnu (ne rien faire) &#10;O &#10;Demander le SCR &#10;Utiliser le SCR du roet &#10;• utiliser le SCR par défaut pour les couches &#10;v Transformati»ns de systèmes géodésilues (datum) par défaut &#10;Demander de choisir la tran#ormation de datum si plusieurs sont disponibles &#10;Entrer les transformations de datum par défaut qui seront utilisées dans n'importe quel projet nouvellement créé. &#10;SCR d'origine SCR de destination Opération ">
            <a:extLst>
              <a:ext uri="{FF2B5EF4-FFF2-40B4-BE49-F238E27FC236}">
                <a16:creationId xmlns:a16="http://schemas.microsoft.com/office/drawing/2014/main" id="{3267EFDD-CC33-D1BF-8CCF-A1C4C4347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1786" y="316917"/>
            <a:ext cx="6660444" cy="3840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860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427854"/>
            <a:ext cx="10765809" cy="4351338"/>
          </a:xfrm>
        </p:spPr>
        <p:txBody>
          <a:bodyPr/>
          <a:lstStyle/>
          <a:p>
            <a:r>
              <a:rPr lang="de-CH" b="1" dirty="0"/>
              <a:t>Gestion des </a:t>
            </a:r>
            <a:r>
              <a:rPr lang="de-CH" b="1" dirty="0" err="1"/>
              <a:t>couches</a:t>
            </a:r>
            <a:endParaRPr lang="de-CH" b="1" dirty="0"/>
          </a:p>
          <a:p>
            <a:pPr lvl="1"/>
            <a:r>
              <a:rPr lang="de-CH" dirty="0"/>
              <a:t>Ordres des </a:t>
            </a:r>
            <a:r>
              <a:rPr lang="de-CH" dirty="0" err="1"/>
              <a:t>couches</a:t>
            </a:r>
            <a:endParaRPr lang="de-CH" dirty="0"/>
          </a:p>
          <a:p>
            <a:pPr lvl="1"/>
            <a:r>
              <a:rPr lang="de-CH" dirty="0" err="1"/>
              <a:t>Affichage</a:t>
            </a:r>
            <a:r>
              <a:rPr lang="de-CH" dirty="0"/>
              <a:t> </a:t>
            </a:r>
          </a:p>
          <a:p>
            <a:pPr lvl="1"/>
            <a:r>
              <a:rPr lang="de-CH" dirty="0" err="1"/>
              <a:t>Groupes</a:t>
            </a:r>
            <a:endParaRPr lang="de-CH" dirty="0"/>
          </a:p>
          <a:p>
            <a:pPr lvl="2"/>
            <a:r>
              <a:rPr lang="de-CH" dirty="0" err="1"/>
              <a:t>Groupe</a:t>
            </a:r>
            <a:r>
              <a:rPr lang="de-CH" dirty="0"/>
              <a:t> </a:t>
            </a:r>
            <a:r>
              <a:rPr lang="de-CH" dirty="0" err="1"/>
              <a:t>mutuellement</a:t>
            </a:r>
            <a:r>
              <a:rPr lang="de-CH" dirty="0"/>
              <a:t> </a:t>
            </a:r>
            <a:r>
              <a:rPr lang="de-CH" dirty="0" err="1"/>
              <a:t>exclusif</a:t>
            </a:r>
            <a:endParaRPr lang="de-CH" dirty="0"/>
          </a:p>
          <a:p>
            <a:pPr lvl="1"/>
            <a:r>
              <a:rPr lang="de-CH" dirty="0" err="1"/>
              <a:t>Propriétés</a:t>
            </a:r>
            <a:r>
              <a:rPr lang="de-CH" dirty="0"/>
              <a:t> (</a:t>
            </a:r>
            <a:r>
              <a:rPr lang="de-CH" dirty="0" err="1"/>
              <a:t>clic</a:t>
            </a:r>
            <a:r>
              <a:rPr lang="de-CH" dirty="0"/>
              <a:t> </a:t>
            </a:r>
            <a:r>
              <a:rPr lang="de-CH" dirty="0" err="1"/>
              <a:t>droit</a:t>
            </a:r>
            <a:r>
              <a:rPr lang="de-CH" dirty="0"/>
              <a:t>)</a:t>
            </a:r>
          </a:p>
          <a:p>
            <a:pPr lvl="2"/>
            <a:r>
              <a:rPr lang="de-CH" dirty="0" err="1"/>
              <a:t>Copier</a:t>
            </a:r>
            <a:r>
              <a:rPr lang="de-CH" dirty="0"/>
              <a:t> la </a:t>
            </a:r>
            <a:r>
              <a:rPr lang="de-CH" dirty="0" err="1"/>
              <a:t>couche</a:t>
            </a:r>
            <a:endParaRPr lang="de-CH" dirty="0"/>
          </a:p>
          <a:p>
            <a:pPr lvl="2"/>
            <a:r>
              <a:rPr lang="de-CH" dirty="0" err="1"/>
              <a:t>Zoomer</a:t>
            </a:r>
            <a:r>
              <a:rPr lang="de-CH" dirty="0"/>
              <a:t> </a:t>
            </a:r>
            <a:r>
              <a:rPr lang="de-CH" dirty="0" err="1"/>
              <a:t>sur</a:t>
            </a:r>
            <a:r>
              <a:rPr lang="de-CH" dirty="0"/>
              <a:t> la </a:t>
            </a:r>
            <a:r>
              <a:rPr lang="de-CH" dirty="0" err="1"/>
              <a:t>couche</a:t>
            </a:r>
            <a:endParaRPr lang="de-CH" dirty="0"/>
          </a:p>
          <a:p>
            <a:pPr lvl="2"/>
            <a:r>
              <a:rPr lang="de-CH" dirty="0" err="1"/>
              <a:t>Echelle</a:t>
            </a:r>
            <a:r>
              <a:rPr lang="de-CH" dirty="0"/>
              <a:t> de </a:t>
            </a:r>
            <a:r>
              <a:rPr lang="de-CH" dirty="0" err="1"/>
              <a:t>visibilité</a:t>
            </a:r>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1010976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Créer un groupe « Aptitude solaire »</a:t>
            </a:r>
          </a:p>
          <a:p>
            <a:pPr lvl="1"/>
            <a:r>
              <a:rPr lang="fr-FR" dirty="0"/>
              <a:t>Chercher dans </a:t>
            </a:r>
            <a:r>
              <a:rPr lang="fr-FR" dirty="0" err="1"/>
              <a:t>Swiss</a:t>
            </a:r>
            <a:r>
              <a:rPr lang="fr-FR" dirty="0"/>
              <a:t> Locator la couche « aptitude des toitures » et l’ajouter au groupe</a:t>
            </a:r>
          </a:p>
          <a:p>
            <a:pPr lvl="1"/>
            <a:r>
              <a:rPr lang="fr-FR" dirty="0"/>
              <a:t>Chercher dans </a:t>
            </a:r>
            <a:r>
              <a:rPr lang="fr-FR" dirty="0" err="1"/>
              <a:t>Swiss</a:t>
            </a:r>
            <a:r>
              <a:rPr lang="fr-FR" dirty="0"/>
              <a:t> Locator la couche « potentiel des façades » et l’ajouter au groupe</a:t>
            </a:r>
          </a:p>
          <a:p>
            <a:pPr lvl="1"/>
            <a:r>
              <a:rPr lang="fr-FR" dirty="0"/>
              <a:t>Vérifier que les façades sont au-dessus des toitures</a:t>
            </a:r>
          </a:p>
          <a:p>
            <a:pPr lvl="1"/>
            <a:r>
              <a:rPr lang="fr-FR" dirty="0"/>
              <a:t>Choisir une échelle de visibilité appropriée</a:t>
            </a:r>
          </a:p>
          <a:p>
            <a:pPr lvl="1"/>
            <a:r>
              <a:rPr lang="fr-FR" dirty="0"/>
              <a:t>Copier la couche </a:t>
            </a:r>
            <a:r>
              <a:rPr lang="fr-FR" dirty="0" err="1"/>
              <a:t>swissimage</a:t>
            </a:r>
            <a:r>
              <a:rPr lang="fr-FR" dirty="0"/>
              <a:t> du groupe « Confédération » dans le groupe « Aptitude solaire »</a:t>
            </a:r>
          </a:p>
          <a:p>
            <a:r>
              <a:rPr lang="fr-FR" dirty="0"/>
              <a:t>Transformer le groupe Google en groupe « mutuellement exclusif »</a:t>
            </a:r>
          </a:p>
        </p:txBody>
      </p:sp>
    </p:spTree>
    <p:extLst>
      <p:ext uri="{BB962C8B-B14F-4D97-AF65-F5344CB8AC3E}">
        <p14:creationId xmlns:p14="http://schemas.microsoft.com/office/powerpoint/2010/main" val="1495377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4" y="802972"/>
            <a:ext cx="4610194" cy="4351338"/>
          </a:xfrm>
        </p:spPr>
        <p:txBody>
          <a:bodyPr/>
          <a:lstStyle/>
          <a:p>
            <a:r>
              <a:rPr lang="de-CH" b="1" dirty="0" err="1"/>
              <a:t>Types</a:t>
            </a:r>
            <a:r>
              <a:rPr lang="de-CH" b="1" dirty="0"/>
              <a:t> de </a:t>
            </a:r>
            <a:r>
              <a:rPr lang="de-CH" b="1" dirty="0" err="1"/>
              <a:t>couches</a:t>
            </a:r>
            <a:endParaRPr lang="de-CH" b="1" dirty="0"/>
          </a:p>
          <a:p>
            <a:pPr lvl="1"/>
            <a:r>
              <a:rPr lang="de-CH" dirty="0"/>
              <a:t>Raster</a:t>
            </a:r>
          </a:p>
          <a:p>
            <a:pPr lvl="2"/>
            <a:r>
              <a:rPr lang="de-CH" dirty="0"/>
              <a:t>Image</a:t>
            </a:r>
          </a:p>
          <a:p>
            <a:pPr lvl="2"/>
            <a:r>
              <a:rPr lang="de-CH" dirty="0" err="1"/>
              <a:t>Matrice</a:t>
            </a:r>
            <a:r>
              <a:rPr lang="de-CH" dirty="0"/>
              <a:t> de </a:t>
            </a:r>
            <a:r>
              <a:rPr lang="de-CH" dirty="0" err="1"/>
              <a:t>valeurs</a:t>
            </a:r>
            <a:endParaRPr lang="de-CH" dirty="0"/>
          </a:p>
          <a:p>
            <a:pPr lvl="2"/>
            <a:r>
              <a:rPr lang="de-CH" dirty="0" err="1"/>
              <a:t>Ajouter</a:t>
            </a:r>
            <a:r>
              <a:rPr lang="de-CH" dirty="0"/>
              <a:t> MNT25</a:t>
            </a:r>
          </a:p>
          <a:p>
            <a:pPr lvl="1"/>
            <a:r>
              <a:rPr lang="de-CH" dirty="0" err="1"/>
              <a:t>Vecteur</a:t>
            </a:r>
            <a:endParaRPr lang="de-CH" dirty="0"/>
          </a:p>
          <a:p>
            <a:pPr lvl="2"/>
            <a:r>
              <a:rPr lang="de-CH" dirty="0"/>
              <a:t>Point, </a:t>
            </a:r>
            <a:r>
              <a:rPr lang="de-CH" dirty="0" err="1"/>
              <a:t>ligne</a:t>
            </a:r>
            <a:r>
              <a:rPr lang="de-CH" dirty="0"/>
              <a:t>, </a:t>
            </a:r>
            <a:r>
              <a:rPr lang="de-CH" dirty="0" err="1"/>
              <a:t>polygone</a:t>
            </a:r>
            <a:endParaRPr lang="de-CH" dirty="0"/>
          </a:p>
          <a:p>
            <a:pPr lvl="2"/>
            <a:r>
              <a:rPr lang="de-CH" dirty="0" err="1"/>
              <a:t>Contient</a:t>
            </a:r>
            <a:r>
              <a:rPr lang="de-CH" dirty="0"/>
              <a:t> des </a:t>
            </a:r>
            <a:r>
              <a:rPr lang="de-CH" dirty="0" err="1"/>
              <a:t>données</a:t>
            </a:r>
            <a:r>
              <a:rPr lang="de-CH" dirty="0"/>
              <a:t> </a:t>
            </a:r>
            <a:r>
              <a:rPr lang="de-CH" dirty="0" err="1"/>
              <a:t>attributaires</a:t>
            </a:r>
            <a:endParaRPr lang="de-CH" dirty="0"/>
          </a:p>
          <a:p>
            <a:pPr lvl="2"/>
            <a:r>
              <a:rPr lang="de-CH" dirty="0"/>
              <a:t>Exemple commune</a:t>
            </a:r>
          </a:p>
          <a:p>
            <a:pPr lvl="2"/>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3" name="Espace réservé du contenu 1">
            <a:extLst>
              <a:ext uri="{FF2B5EF4-FFF2-40B4-BE49-F238E27FC236}">
                <a16:creationId xmlns:a16="http://schemas.microsoft.com/office/drawing/2014/main" id="{E1DFA082-9143-6C47-F5F9-CFB8A00C3FB6}"/>
              </a:ext>
            </a:extLst>
          </p:cNvPr>
          <p:cNvSpPr txBox="1">
            <a:spLocks/>
          </p:cNvSpPr>
          <p:nvPr/>
        </p:nvSpPr>
        <p:spPr>
          <a:xfrm>
            <a:off x="6679394" y="811282"/>
            <a:ext cx="4610194"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CH" b="1" dirty="0" err="1"/>
              <a:t>Types</a:t>
            </a:r>
            <a:r>
              <a:rPr lang="de-CH" b="1" dirty="0"/>
              <a:t> de </a:t>
            </a:r>
            <a:r>
              <a:rPr lang="de-CH" b="1" dirty="0" err="1"/>
              <a:t>couches</a:t>
            </a:r>
            <a:endParaRPr lang="de-CH" b="1" dirty="0"/>
          </a:p>
          <a:p>
            <a:pPr lvl="1"/>
            <a:r>
              <a:rPr lang="de-CH" dirty="0" err="1"/>
              <a:t>Données</a:t>
            </a:r>
            <a:r>
              <a:rPr lang="de-CH" dirty="0"/>
              <a:t> </a:t>
            </a:r>
            <a:r>
              <a:rPr lang="de-CH" dirty="0" err="1"/>
              <a:t>locales</a:t>
            </a:r>
            <a:endParaRPr lang="de-CH" dirty="0"/>
          </a:p>
          <a:p>
            <a:pPr lvl="2"/>
            <a:r>
              <a:rPr lang="de-CH" dirty="0" err="1"/>
              <a:t>Enregistrées</a:t>
            </a:r>
            <a:r>
              <a:rPr lang="de-CH" dirty="0"/>
              <a:t> </a:t>
            </a:r>
            <a:r>
              <a:rPr lang="de-CH" dirty="0" err="1"/>
              <a:t>sur</a:t>
            </a:r>
            <a:r>
              <a:rPr lang="de-CH" dirty="0"/>
              <a:t> le poste</a:t>
            </a:r>
          </a:p>
          <a:p>
            <a:pPr lvl="2"/>
            <a:r>
              <a:rPr lang="de-CH" dirty="0"/>
              <a:t>Formats </a:t>
            </a:r>
            <a:r>
              <a:rPr lang="de-CH" dirty="0" err="1"/>
              <a:t>standards</a:t>
            </a:r>
            <a:endParaRPr lang="de-CH" dirty="0"/>
          </a:p>
          <a:p>
            <a:pPr lvl="3"/>
            <a:r>
              <a:rPr lang="de-CH" dirty="0"/>
              <a:t>TIF (Raster)</a:t>
            </a:r>
          </a:p>
          <a:p>
            <a:pPr lvl="3"/>
            <a:r>
              <a:rPr lang="de-CH" dirty="0"/>
              <a:t>SHP, GDB (</a:t>
            </a:r>
            <a:r>
              <a:rPr lang="de-CH" dirty="0" err="1"/>
              <a:t>Vecteur</a:t>
            </a:r>
            <a:r>
              <a:rPr lang="de-CH" dirty="0"/>
              <a:t>)</a:t>
            </a:r>
          </a:p>
          <a:p>
            <a:pPr lvl="3"/>
            <a:r>
              <a:rPr lang="de-CH" b="1" dirty="0"/>
              <a:t>GPKG</a:t>
            </a:r>
            <a:r>
              <a:rPr lang="de-CH" dirty="0"/>
              <a:t>, GEOJSON (</a:t>
            </a:r>
            <a:r>
              <a:rPr lang="de-CH" dirty="0" err="1"/>
              <a:t>Vecteur</a:t>
            </a:r>
            <a:r>
              <a:rPr lang="de-CH" dirty="0"/>
              <a:t>)</a:t>
            </a:r>
          </a:p>
          <a:p>
            <a:pPr lvl="3"/>
            <a:r>
              <a:rPr lang="de-CH" dirty="0"/>
              <a:t>DWG /DXF (</a:t>
            </a:r>
            <a:r>
              <a:rPr lang="de-CH" dirty="0" err="1"/>
              <a:t>Vecteur</a:t>
            </a:r>
            <a:r>
              <a:rPr lang="de-CH" dirty="0"/>
              <a:t>)</a:t>
            </a:r>
          </a:p>
          <a:p>
            <a:pPr lvl="1"/>
            <a:r>
              <a:rPr lang="de-CH" dirty="0" err="1"/>
              <a:t>Données</a:t>
            </a:r>
            <a:r>
              <a:rPr lang="de-CH" dirty="0"/>
              <a:t> </a:t>
            </a:r>
            <a:r>
              <a:rPr lang="de-CH" dirty="0" err="1"/>
              <a:t>distantes</a:t>
            </a:r>
            <a:endParaRPr lang="de-CH" dirty="0"/>
          </a:p>
          <a:p>
            <a:pPr lvl="2"/>
            <a:r>
              <a:rPr lang="de-CH" dirty="0"/>
              <a:t>Web Services</a:t>
            </a:r>
          </a:p>
          <a:p>
            <a:pPr lvl="3"/>
            <a:r>
              <a:rPr lang="de-CH" dirty="0"/>
              <a:t>WM(T)S (Raster)</a:t>
            </a:r>
          </a:p>
          <a:p>
            <a:pPr lvl="3"/>
            <a:r>
              <a:rPr lang="de-CH" dirty="0"/>
              <a:t>WFS (</a:t>
            </a:r>
            <a:r>
              <a:rPr lang="de-CH" dirty="0" err="1"/>
              <a:t>Vecteur</a:t>
            </a:r>
            <a:r>
              <a:rPr lang="de-CH" dirty="0"/>
              <a:t>)</a:t>
            </a:r>
          </a:p>
          <a:p>
            <a:pPr lvl="3"/>
            <a:r>
              <a:rPr lang="de-CH" dirty="0"/>
              <a:t>Web </a:t>
            </a:r>
            <a:r>
              <a:rPr lang="de-CH" dirty="0" err="1"/>
              <a:t>features</a:t>
            </a:r>
            <a:r>
              <a:rPr lang="de-CH" dirty="0"/>
              <a:t> ESRI</a:t>
            </a:r>
          </a:p>
          <a:p>
            <a:pPr lvl="2"/>
            <a:r>
              <a:rPr lang="de-CH" dirty="0"/>
              <a:t>Base de </a:t>
            </a:r>
            <a:r>
              <a:rPr lang="de-CH" dirty="0" err="1"/>
              <a:t>données</a:t>
            </a:r>
            <a:endParaRPr lang="de-CH" dirty="0"/>
          </a:p>
          <a:p>
            <a:pPr lvl="2"/>
            <a:endParaRPr lang="fr-CH" dirty="0"/>
          </a:p>
        </p:txBody>
      </p:sp>
      <p:pic>
        <p:nvPicPr>
          <p:cNvPr id="7" name="Image 6" descr="Une image contenant texte, homme, affiche, Visage humain&#10;&#10;Description générée automatiquement">
            <a:extLst>
              <a:ext uri="{FF2B5EF4-FFF2-40B4-BE49-F238E27FC236}">
                <a16:creationId xmlns:a16="http://schemas.microsoft.com/office/drawing/2014/main" id="{EDE958A5-8646-4A53-F0F9-6058363A7E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0726" y="4401658"/>
            <a:ext cx="1962150" cy="232410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5340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err="1"/>
              <a:t>Ajouts</a:t>
            </a:r>
            <a:r>
              <a:rPr lang="de-CH" b="1" dirty="0"/>
              <a:t> de </a:t>
            </a:r>
            <a:r>
              <a:rPr lang="de-CH" b="1" dirty="0" err="1"/>
              <a:t>couches</a:t>
            </a:r>
            <a:endParaRPr lang="de-CH" b="1" dirty="0"/>
          </a:p>
          <a:p>
            <a:pPr lvl="1"/>
            <a:r>
              <a:rPr lang="de-CH" dirty="0"/>
              <a:t>WMS </a:t>
            </a:r>
            <a:r>
              <a:rPr lang="de-CH" dirty="0" err="1"/>
              <a:t>confédération</a:t>
            </a:r>
            <a:endParaRPr lang="de-CH" dirty="0"/>
          </a:p>
          <a:p>
            <a:pPr lvl="2"/>
            <a:r>
              <a:rPr lang="de-CH" dirty="0"/>
              <a:t>map.geo.admin.ch</a:t>
            </a:r>
          </a:p>
          <a:p>
            <a:pPr lvl="2"/>
            <a:r>
              <a:rPr lang="de-CH" dirty="0"/>
              <a:t>Swiss Locator </a:t>
            </a:r>
            <a:r>
              <a:rPr lang="de-CH" dirty="0" err="1"/>
              <a:t>ou</a:t>
            </a:r>
            <a:r>
              <a:rPr lang="de-CH" dirty="0"/>
              <a:t> https://wms.geo.admin.ch/</a:t>
            </a:r>
          </a:p>
          <a:p>
            <a:pPr lvl="1"/>
            <a:r>
              <a:rPr lang="de-CH" dirty="0" err="1"/>
              <a:t>Serveur</a:t>
            </a:r>
            <a:r>
              <a:rPr lang="de-CH" dirty="0"/>
              <a:t> ArcGIS REST </a:t>
            </a:r>
            <a:r>
              <a:rPr lang="de-CH" dirty="0" err="1"/>
              <a:t>Canton</a:t>
            </a:r>
            <a:r>
              <a:rPr lang="de-CH" dirty="0"/>
              <a:t> VS</a:t>
            </a:r>
          </a:p>
          <a:p>
            <a:pPr lvl="2"/>
            <a:r>
              <a:rPr lang="de-CH" dirty="0" err="1"/>
              <a:t>Nom</a:t>
            </a:r>
            <a:r>
              <a:rPr lang="de-CH" dirty="0"/>
              <a:t>: CCGEO VS</a:t>
            </a:r>
          </a:p>
          <a:p>
            <a:pPr lvl="2"/>
            <a:r>
              <a:rPr lang="de-CH" dirty="0"/>
              <a:t>URL: https://services1.arcgis.com/rMlsWo8szOzlrpCq/arcgis/rest/services/</a:t>
            </a:r>
          </a:p>
          <a:p>
            <a:pPr lvl="1"/>
            <a:r>
              <a:rPr lang="de-CH" dirty="0"/>
              <a:t>SHP / GDB (</a:t>
            </a:r>
            <a:r>
              <a:rPr lang="de-CH" dirty="0" err="1"/>
              <a:t>glisser</a:t>
            </a:r>
            <a:r>
              <a:rPr lang="de-CH" dirty="0"/>
              <a:t>)</a:t>
            </a:r>
            <a:endParaRPr lang="de-CH" b="1" dirty="0"/>
          </a:p>
          <a:p>
            <a:pPr lvl="1"/>
            <a:r>
              <a:rPr lang="de-CH" dirty="0"/>
              <a:t>TIF (</a:t>
            </a:r>
            <a:r>
              <a:rPr lang="de-CH" dirty="0" err="1"/>
              <a:t>glisser</a:t>
            </a:r>
            <a:r>
              <a:rPr lang="de-CH" dirty="0"/>
              <a:t>)</a:t>
            </a:r>
          </a:p>
          <a:p>
            <a:pPr lvl="1"/>
            <a:r>
              <a:rPr lang="de-CH" dirty="0"/>
              <a:t>CSV </a:t>
            </a:r>
          </a:p>
          <a:p>
            <a:pPr lvl="2"/>
            <a:r>
              <a:rPr lang="de-CH" dirty="0"/>
              <a:t>swissNAMES3D_PKT</a:t>
            </a:r>
          </a:p>
          <a:p>
            <a:pPr lvl="2"/>
            <a:r>
              <a:rPr lang="de-CH" dirty="0"/>
              <a:t>Texte </a:t>
            </a:r>
            <a:r>
              <a:rPr lang="de-CH" dirty="0" err="1"/>
              <a:t>délimité</a:t>
            </a:r>
            <a:endParaRPr lang="de-CH" dirty="0"/>
          </a:p>
          <a:p>
            <a:pPr lvl="2"/>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3EE2B700-BF67-3F84-4085-5F4C8C7A8402}"/>
              </a:ext>
            </a:extLst>
          </p:cNvPr>
          <p:cNvPicPr>
            <a:picLocks noChangeAspect="1"/>
          </p:cNvPicPr>
          <p:nvPr/>
        </p:nvPicPr>
        <p:blipFill>
          <a:blip r:embed="rId4"/>
          <a:stretch>
            <a:fillRect/>
          </a:stretch>
        </p:blipFill>
        <p:spPr>
          <a:xfrm>
            <a:off x="311802" y="2763641"/>
            <a:ext cx="640751" cy="544638"/>
          </a:xfrm>
          <a:prstGeom prst="rect">
            <a:avLst/>
          </a:prstGeom>
        </p:spPr>
      </p:pic>
      <p:pic>
        <p:nvPicPr>
          <p:cNvPr id="9" name="Image 8">
            <a:extLst>
              <a:ext uri="{FF2B5EF4-FFF2-40B4-BE49-F238E27FC236}">
                <a16:creationId xmlns:a16="http://schemas.microsoft.com/office/drawing/2014/main" id="{DBB100C3-8065-7B3A-BE0B-9A54AB40CD5C}"/>
              </a:ext>
            </a:extLst>
          </p:cNvPr>
          <p:cNvPicPr>
            <a:picLocks noChangeAspect="1"/>
          </p:cNvPicPr>
          <p:nvPr/>
        </p:nvPicPr>
        <p:blipFill>
          <a:blip r:embed="rId4"/>
          <a:stretch>
            <a:fillRect/>
          </a:stretch>
        </p:blipFill>
        <p:spPr>
          <a:xfrm>
            <a:off x="311802" y="4792987"/>
            <a:ext cx="640751" cy="544638"/>
          </a:xfrm>
          <a:prstGeom prst="rect">
            <a:avLst/>
          </a:prstGeom>
        </p:spPr>
      </p:pic>
    </p:spTree>
    <p:extLst>
      <p:ext uri="{BB962C8B-B14F-4D97-AF65-F5344CB8AC3E}">
        <p14:creationId xmlns:p14="http://schemas.microsoft.com/office/powerpoint/2010/main" val="2284061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err="1"/>
              <a:t>Ajouts</a:t>
            </a:r>
            <a:r>
              <a:rPr lang="de-CH" b="1" dirty="0"/>
              <a:t> de </a:t>
            </a:r>
            <a:r>
              <a:rPr lang="de-CH" b="1" dirty="0" err="1"/>
              <a:t>couches</a:t>
            </a:r>
            <a:endParaRPr lang="de-CH" b="1" dirty="0"/>
          </a:p>
          <a:p>
            <a:pPr lvl="1"/>
            <a:r>
              <a:rPr lang="de-CH" dirty="0"/>
              <a:t>DWG / DXF</a:t>
            </a:r>
          </a:p>
          <a:p>
            <a:pPr lvl="2"/>
            <a:r>
              <a:rPr lang="de-CH" dirty="0"/>
              <a:t>QGIS ne </a:t>
            </a:r>
            <a:r>
              <a:rPr lang="de-CH" dirty="0" err="1"/>
              <a:t>lit</a:t>
            </a:r>
            <a:r>
              <a:rPr lang="de-CH" dirty="0"/>
              <a:t> </a:t>
            </a:r>
            <a:r>
              <a:rPr lang="de-CH" dirty="0" err="1"/>
              <a:t>pas</a:t>
            </a:r>
            <a:r>
              <a:rPr lang="de-CH" dirty="0"/>
              <a:t> </a:t>
            </a:r>
            <a:r>
              <a:rPr lang="de-CH" dirty="0" err="1"/>
              <a:t>directement</a:t>
            </a:r>
            <a:r>
              <a:rPr lang="de-CH" dirty="0"/>
              <a:t> </a:t>
            </a:r>
            <a:r>
              <a:rPr lang="de-CH" dirty="0" err="1"/>
              <a:t>ces</a:t>
            </a:r>
            <a:r>
              <a:rPr lang="de-CH" dirty="0"/>
              <a:t> </a:t>
            </a:r>
            <a:r>
              <a:rPr lang="de-CH" dirty="0" err="1"/>
              <a:t>formats</a:t>
            </a:r>
            <a:r>
              <a:rPr lang="de-CH" dirty="0"/>
              <a:t>, </a:t>
            </a:r>
            <a:r>
              <a:rPr lang="de-CH" dirty="0" err="1"/>
              <a:t>il</a:t>
            </a:r>
            <a:r>
              <a:rPr lang="de-CH" dirty="0"/>
              <a:t> </a:t>
            </a:r>
            <a:r>
              <a:rPr lang="de-CH" dirty="0" err="1"/>
              <a:t>doit</a:t>
            </a:r>
            <a:r>
              <a:rPr lang="de-CH" dirty="0"/>
              <a:t> </a:t>
            </a:r>
            <a:r>
              <a:rPr lang="de-CH" dirty="0" err="1"/>
              <a:t>les</a:t>
            </a:r>
            <a:r>
              <a:rPr lang="de-CH" dirty="0"/>
              <a:t> </a:t>
            </a:r>
            <a:r>
              <a:rPr lang="de-CH" dirty="0" err="1"/>
              <a:t>convertir</a:t>
            </a:r>
            <a:r>
              <a:rPr lang="de-CH" dirty="0"/>
              <a:t> en GPKG</a:t>
            </a:r>
          </a:p>
          <a:p>
            <a:pPr lvl="2"/>
            <a:r>
              <a:rPr lang="de-CH" dirty="0" err="1"/>
              <a:t>Projet</a:t>
            </a:r>
            <a:r>
              <a:rPr lang="de-CH" dirty="0"/>
              <a:t> &gt; </a:t>
            </a:r>
            <a:r>
              <a:rPr lang="de-CH" dirty="0" err="1"/>
              <a:t>Importer</a:t>
            </a:r>
            <a:r>
              <a:rPr lang="de-CH" dirty="0"/>
              <a:t> / </a:t>
            </a:r>
            <a:r>
              <a:rPr lang="de-CH" dirty="0" err="1"/>
              <a:t>Exporter</a:t>
            </a:r>
            <a:r>
              <a:rPr lang="de-CH" dirty="0"/>
              <a:t> &gt; </a:t>
            </a:r>
            <a:r>
              <a:rPr lang="de-CH" dirty="0" err="1"/>
              <a:t>Importer</a:t>
            </a:r>
            <a:r>
              <a:rPr lang="de-CH" dirty="0"/>
              <a:t> des </a:t>
            </a:r>
            <a:r>
              <a:rPr lang="de-CH" dirty="0" err="1"/>
              <a:t>couches</a:t>
            </a:r>
            <a:r>
              <a:rPr lang="de-CH" dirty="0"/>
              <a:t> </a:t>
            </a:r>
            <a:r>
              <a:rPr lang="de-CH" dirty="0" err="1"/>
              <a:t>depuis</a:t>
            </a:r>
            <a:r>
              <a:rPr lang="de-CH" dirty="0"/>
              <a:t> DXF / DWG</a:t>
            </a:r>
          </a:p>
          <a:p>
            <a:pPr lvl="2"/>
            <a:r>
              <a:rPr lang="de-CH" dirty="0"/>
              <a:t>Package </a:t>
            </a:r>
            <a:r>
              <a:rPr lang="de-CH" dirty="0" err="1"/>
              <a:t>cible</a:t>
            </a:r>
            <a:r>
              <a:rPr lang="de-CH" dirty="0"/>
              <a:t>: </a:t>
            </a:r>
            <a:r>
              <a:rPr lang="de-CH" dirty="0" err="1"/>
              <a:t>définir</a:t>
            </a:r>
            <a:r>
              <a:rPr lang="de-CH" dirty="0"/>
              <a:t> la </a:t>
            </a:r>
            <a:r>
              <a:rPr lang="de-CH" dirty="0" err="1"/>
              <a:t>destination</a:t>
            </a:r>
            <a:r>
              <a:rPr lang="de-CH" dirty="0"/>
              <a:t> du GPKG </a:t>
            </a:r>
          </a:p>
          <a:p>
            <a:pPr lvl="2"/>
            <a:r>
              <a:rPr lang="de-CH" dirty="0"/>
              <a:t>SCR: EPSG: 2056 – CH1903+ / LV95</a:t>
            </a:r>
          </a:p>
          <a:p>
            <a:pPr lvl="2"/>
            <a:r>
              <a:rPr lang="de-CH" dirty="0" err="1"/>
              <a:t>Attendre</a:t>
            </a:r>
            <a:r>
              <a:rPr lang="de-CH" dirty="0"/>
              <a:t> </a:t>
            </a:r>
            <a:r>
              <a:rPr lang="de-CH" dirty="0" err="1"/>
              <a:t>que</a:t>
            </a:r>
            <a:r>
              <a:rPr lang="de-CH" dirty="0"/>
              <a:t> la </a:t>
            </a:r>
            <a:r>
              <a:rPr lang="de-CH" dirty="0" err="1"/>
              <a:t>conversion</a:t>
            </a:r>
            <a:r>
              <a:rPr lang="de-CH" dirty="0"/>
              <a:t> </a:t>
            </a:r>
            <a:r>
              <a:rPr lang="de-CH" dirty="0" err="1"/>
              <a:t>soit</a:t>
            </a:r>
            <a:r>
              <a:rPr lang="de-CH" dirty="0"/>
              <a:t> </a:t>
            </a:r>
            <a:r>
              <a:rPr lang="de-CH" dirty="0" err="1"/>
              <a:t>faite</a:t>
            </a:r>
            <a:endParaRPr lang="de-CH" dirty="0"/>
          </a:p>
          <a:p>
            <a:pPr lvl="2"/>
            <a:r>
              <a:rPr lang="de-CH" dirty="0"/>
              <a:t>Donner </a:t>
            </a:r>
            <a:r>
              <a:rPr lang="de-CH" dirty="0" err="1"/>
              <a:t>un</a:t>
            </a:r>
            <a:r>
              <a:rPr lang="de-CH" dirty="0"/>
              <a:t> </a:t>
            </a:r>
            <a:r>
              <a:rPr lang="de-CH" dirty="0" err="1"/>
              <a:t>nom</a:t>
            </a:r>
            <a:r>
              <a:rPr lang="de-CH" dirty="0"/>
              <a:t> de </a:t>
            </a:r>
            <a:r>
              <a:rPr lang="de-CH" dirty="0" err="1"/>
              <a:t>groupe</a:t>
            </a:r>
            <a:endParaRPr lang="de-CH" dirty="0"/>
          </a:p>
          <a:p>
            <a:pPr lvl="2"/>
            <a:endParaRPr lang="fr-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3737427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Ajouter toutes les couches du dossier « </a:t>
            </a:r>
            <a:r>
              <a:rPr lang="fr-FR" dirty="0" err="1"/>
              <a:t>donnees_de_base</a:t>
            </a:r>
            <a:r>
              <a:rPr lang="fr-FR" dirty="0"/>
              <a:t> » dans un groupe « Ardon »</a:t>
            </a:r>
          </a:p>
          <a:p>
            <a:r>
              <a:rPr lang="fr-FR" dirty="0"/>
              <a:t>Ajouter le DWG du dossier « </a:t>
            </a:r>
            <a:r>
              <a:rPr lang="fr-FR" dirty="0" err="1"/>
              <a:t>donnees_metier</a:t>
            </a:r>
            <a:r>
              <a:rPr lang="fr-FR" dirty="0"/>
              <a:t> »</a:t>
            </a:r>
          </a:p>
          <a:p>
            <a:r>
              <a:rPr lang="fr-FR" dirty="0"/>
              <a:t>Configurer le serveur du CCGEO</a:t>
            </a:r>
          </a:p>
          <a:p>
            <a:pPr lvl="1"/>
            <a:r>
              <a:rPr lang="fr-FR" dirty="0"/>
              <a:t>Ajouter les couches des dangers naturels dans un groupe « DANAT »</a:t>
            </a:r>
          </a:p>
          <a:p>
            <a:pPr lvl="2"/>
            <a:r>
              <a:rPr lang="fr-FR" dirty="0"/>
              <a:t>Avalanche</a:t>
            </a:r>
          </a:p>
          <a:p>
            <a:pPr lvl="2"/>
            <a:r>
              <a:rPr lang="fr-FR" dirty="0"/>
              <a:t>Chute de blocs</a:t>
            </a:r>
          </a:p>
          <a:p>
            <a:pPr lvl="2"/>
            <a:r>
              <a:rPr lang="fr-FR" dirty="0"/>
              <a:t>Rhône</a:t>
            </a:r>
          </a:p>
          <a:p>
            <a:pPr lvl="2"/>
            <a:endParaRPr lang="fr-FR" dirty="0"/>
          </a:p>
          <a:p>
            <a:endParaRPr lang="fr-FR" dirty="0"/>
          </a:p>
        </p:txBody>
      </p:sp>
    </p:spTree>
    <p:extLst>
      <p:ext uri="{BB962C8B-B14F-4D97-AF65-F5344CB8AC3E}">
        <p14:creationId xmlns:p14="http://schemas.microsoft.com/office/powerpoint/2010/main" val="1628956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err="1"/>
              <a:t>Mesurer</a:t>
            </a:r>
            <a:endParaRPr lang="de-CH" b="1" dirty="0"/>
          </a:p>
          <a:p>
            <a:pPr lvl="1"/>
            <a:r>
              <a:rPr lang="fr-CH" dirty="0"/>
              <a:t>Mesurer une distance</a:t>
            </a:r>
          </a:p>
          <a:p>
            <a:pPr lvl="1"/>
            <a:r>
              <a:rPr lang="fr-CH" dirty="0"/>
              <a:t>Mesurer une surface</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10" name="Image 9">
            <a:extLst>
              <a:ext uri="{FF2B5EF4-FFF2-40B4-BE49-F238E27FC236}">
                <a16:creationId xmlns:a16="http://schemas.microsoft.com/office/drawing/2014/main" id="{C732EB31-FE73-D069-C314-45C307539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8511" y="1850511"/>
            <a:ext cx="482710" cy="444601"/>
          </a:xfrm>
          <a:prstGeom prst="rect">
            <a:avLst/>
          </a:prstGeom>
        </p:spPr>
      </p:pic>
    </p:spTree>
    <p:extLst>
      <p:ext uri="{BB962C8B-B14F-4D97-AF65-F5344CB8AC3E}">
        <p14:creationId xmlns:p14="http://schemas.microsoft.com/office/powerpoint/2010/main" val="2638224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Mesurer la longueur de l’église</a:t>
            </a:r>
          </a:p>
          <a:p>
            <a:r>
              <a:rPr lang="fr-FR" dirty="0"/>
              <a:t>Mesurer la surface de l’église</a:t>
            </a:r>
          </a:p>
          <a:p>
            <a:pPr lvl="2"/>
            <a:endParaRPr lang="fr-FR" dirty="0"/>
          </a:p>
          <a:p>
            <a:endParaRPr lang="fr-FR" dirty="0"/>
          </a:p>
        </p:txBody>
      </p:sp>
    </p:spTree>
    <p:extLst>
      <p:ext uri="{BB962C8B-B14F-4D97-AF65-F5344CB8AC3E}">
        <p14:creationId xmlns:p14="http://schemas.microsoft.com/office/powerpoint/2010/main" val="2317318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Couches / </a:t>
            </a:r>
            <a:r>
              <a:rPr lang="de-CH" b="1" dirty="0" err="1"/>
              <a:t>données</a:t>
            </a:r>
            <a:r>
              <a:rPr lang="de-CH" b="1" dirty="0"/>
              <a:t> </a:t>
            </a:r>
            <a:r>
              <a:rPr lang="de-CH" b="1" dirty="0" err="1"/>
              <a:t>raster</a:t>
            </a:r>
            <a:endParaRPr lang="de-CH" b="1" dirty="0"/>
          </a:p>
          <a:p>
            <a:pPr lvl="2"/>
            <a:r>
              <a:rPr lang="fr-CH" dirty="0"/>
              <a:t>Identification</a:t>
            </a:r>
          </a:p>
          <a:p>
            <a:pPr lvl="2"/>
            <a:r>
              <a:rPr lang="fr-CH" dirty="0"/>
              <a:t>Propriétés</a:t>
            </a:r>
          </a:p>
          <a:p>
            <a:pPr lvl="3"/>
            <a:r>
              <a:rPr lang="fr-CH" dirty="0"/>
              <a:t>Symbologie</a:t>
            </a:r>
          </a:p>
          <a:p>
            <a:pPr lvl="4"/>
            <a:r>
              <a:rPr lang="fr-CH" dirty="0"/>
              <a:t>Type de rendu</a:t>
            </a:r>
          </a:p>
          <a:p>
            <a:pPr lvl="5"/>
            <a:r>
              <a:rPr lang="fr-CH" dirty="0"/>
              <a:t>Ombrage</a:t>
            </a:r>
          </a:p>
          <a:p>
            <a:pPr lvl="5"/>
            <a:r>
              <a:rPr lang="fr-CH" dirty="0"/>
              <a:t>Pseudo-couleur</a:t>
            </a:r>
          </a:p>
          <a:p>
            <a:pPr lvl="3"/>
            <a:r>
              <a:rPr lang="fr-CH" dirty="0"/>
              <a:t>Transparence</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1424625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Changer la transparence du MNT25</a:t>
            </a:r>
          </a:p>
          <a:p>
            <a:r>
              <a:rPr lang="fr-FR" dirty="0"/>
              <a:t>Afficher le MNT25 avec un type de rendu « contours »</a:t>
            </a:r>
          </a:p>
          <a:p>
            <a:pPr lvl="1"/>
            <a:r>
              <a:rPr lang="fr-FR" dirty="0"/>
              <a:t>Choisir des paramètres appropriés</a:t>
            </a:r>
          </a:p>
          <a:p>
            <a:r>
              <a:rPr lang="fr-FR" dirty="0"/>
              <a:t>Afficher le MNT25 avec un type de rendu « Ombrage »</a:t>
            </a:r>
          </a:p>
          <a:p>
            <a:r>
              <a:rPr lang="fr-FR" dirty="0"/>
              <a:t>Déterminer l’altitude du Haut de Cry selon le MNT 25</a:t>
            </a:r>
          </a:p>
          <a:p>
            <a:pPr lvl="1"/>
            <a:r>
              <a:rPr lang="fr-FR" dirty="0"/>
              <a:t>Comment trouver le Haut de Cry?</a:t>
            </a:r>
          </a:p>
          <a:p>
            <a:pPr lvl="1"/>
            <a:endParaRPr lang="fr-FR" dirty="0"/>
          </a:p>
          <a:p>
            <a:pPr lvl="2"/>
            <a:endParaRPr lang="fr-FR" dirty="0"/>
          </a:p>
          <a:p>
            <a:endParaRPr lang="fr-FR" dirty="0"/>
          </a:p>
        </p:txBody>
      </p:sp>
    </p:spTree>
    <p:extLst>
      <p:ext uri="{BB962C8B-B14F-4D97-AF65-F5344CB8AC3E}">
        <p14:creationId xmlns:p14="http://schemas.microsoft.com/office/powerpoint/2010/main" val="3742735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Couches / </a:t>
            </a:r>
            <a:r>
              <a:rPr lang="de-CH" b="1" dirty="0" err="1"/>
              <a:t>données</a:t>
            </a:r>
            <a:r>
              <a:rPr lang="de-CH" b="1" dirty="0"/>
              <a:t> </a:t>
            </a:r>
            <a:r>
              <a:rPr lang="de-CH" b="1" dirty="0" err="1"/>
              <a:t>vectorielles</a:t>
            </a:r>
            <a:endParaRPr lang="de-CH" b="1" dirty="0"/>
          </a:p>
          <a:p>
            <a:pPr lvl="1"/>
            <a:r>
              <a:rPr lang="fr-CH" dirty="0"/>
              <a:t>Interrogation de la couche</a:t>
            </a:r>
          </a:p>
          <a:p>
            <a:pPr lvl="2"/>
            <a:r>
              <a:rPr lang="fr-CH" dirty="0"/>
              <a:t>Vue &gt; Panneau &gt; Résultat de l’identification</a:t>
            </a:r>
          </a:p>
          <a:p>
            <a:pPr lvl="2"/>
            <a:r>
              <a:rPr lang="fr-CH" dirty="0"/>
              <a:t>Configuration</a:t>
            </a:r>
          </a:p>
          <a:p>
            <a:pPr lvl="1"/>
            <a:r>
              <a:rPr lang="fr-CH" dirty="0"/>
              <a:t>Ouvrir la table attributaire</a:t>
            </a:r>
          </a:p>
          <a:p>
            <a:pPr lvl="2"/>
            <a:r>
              <a:rPr lang="fr-CH" dirty="0"/>
              <a:t>Clic droit &gt; Ouvrir la table d’attributs</a:t>
            </a:r>
          </a:p>
          <a:p>
            <a:pPr lvl="2"/>
            <a:r>
              <a:rPr lang="fr-CH" dirty="0"/>
              <a:t>Intégrer la table à la fenêtre QGIS</a:t>
            </a:r>
          </a:p>
          <a:p>
            <a:pPr lvl="2"/>
            <a:r>
              <a:rPr lang="fr-CH" dirty="0"/>
              <a:t>Mode formulaire / mode table</a:t>
            </a:r>
          </a:p>
          <a:p>
            <a:pPr lvl="2"/>
            <a:r>
              <a:rPr lang="fr-CH" dirty="0"/>
              <a:t>Zoomer sur la ligne sélectionnée</a:t>
            </a:r>
          </a:p>
          <a:p>
            <a:pPr lvl="1"/>
            <a:r>
              <a:rPr lang="fr-CH" dirty="0"/>
              <a:t>Recherche / sélection attributaire</a:t>
            </a:r>
          </a:p>
          <a:p>
            <a:pPr lvl="3"/>
            <a:r>
              <a:rPr lang="fr-CH" dirty="0"/>
              <a:t>Filtre</a:t>
            </a:r>
          </a:p>
          <a:p>
            <a:pPr lvl="3"/>
            <a:r>
              <a:rPr lang="fr-CH" dirty="0"/>
              <a:t>Tout sélectionner</a:t>
            </a:r>
          </a:p>
          <a:p>
            <a:pPr lvl="3"/>
            <a:r>
              <a:rPr lang="fr-CH" dirty="0"/>
              <a:t>Inverser la sélection</a:t>
            </a:r>
          </a:p>
          <a:p>
            <a:pPr lvl="3"/>
            <a:r>
              <a:rPr lang="fr-CH" dirty="0"/>
              <a:t>Tout désélectionner</a:t>
            </a:r>
          </a:p>
          <a:p>
            <a:pPr lvl="3"/>
            <a:r>
              <a:rPr lang="fr-CH" dirty="0"/>
              <a:t>Sélectionner les parcelles qui commencent par le chiffre 4</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964C2EA5-064C-92C6-7B9A-958A24C6CE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471" y="2036940"/>
            <a:ext cx="495413" cy="482710"/>
          </a:xfrm>
          <a:prstGeom prst="rect">
            <a:avLst/>
          </a:prstGeom>
        </p:spPr>
      </p:pic>
      <p:pic>
        <p:nvPicPr>
          <p:cNvPr id="3" name="Image 2">
            <a:extLst>
              <a:ext uri="{FF2B5EF4-FFF2-40B4-BE49-F238E27FC236}">
                <a16:creationId xmlns:a16="http://schemas.microsoft.com/office/drawing/2014/main" id="{610517EE-7FF2-F92B-94E5-7FEEF4E9F55E}"/>
              </a:ext>
            </a:extLst>
          </p:cNvPr>
          <p:cNvPicPr>
            <a:picLocks noChangeAspect="1"/>
          </p:cNvPicPr>
          <p:nvPr/>
        </p:nvPicPr>
        <p:blipFill>
          <a:blip r:embed="rId5"/>
          <a:stretch>
            <a:fillRect/>
          </a:stretch>
        </p:blipFill>
        <p:spPr>
          <a:xfrm>
            <a:off x="408632" y="4960675"/>
            <a:ext cx="471252" cy="488705"/>
          </a:xfrm>
          <a:prstGeom prst="rect">
            <a:avLst/>
          </a:prstGeom>
        </p:spPr>
      </p:pic>
    </p:spTree>
    <p:extLst>
      <p:ext uri="{BB962C8B-B14F-4D97-AF65-F5344CB8AC3E}">
        <p14:creationId xmlns:p14="http://schemas.microsoft.com/office/powerpoint/2010/main" val="2974723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Couches / </a:t>
            </a:r>
            <a:r>
              <a:rPr lang="de-CH" b="1" dirty="0" err="1"/>
              <a:t>données</a:t>
            </a:r>
            <a:r>
              <a:rPr lang="de-CH" b="1" dirty="0"/>
              <a:t> </a:t>
            </a:r>
            <a:r>
              <a:rPr lang="de-CH" b="1" dirty="0" err="1"/>
              <a:t>vectorielles</a:t>
            </a:r>
            <a:endParaRPr lang="de-CH" b="1" dirty="0"/>
          </a:p>
          <a:p>
            <a:pPr lvl="1"/>
            <a:r>
              <a:rPr lang="fr-CH" dirty="0"/>
              <a:t>Recherche / sélection graphique</a:t>
            </a:r>
          </a:p>
          <a:p>
            <a:pPr lvl="2"/>
            <a:r>
              <a:rPr lang="fr-CH" dirty="0"/>
              <a:t>Diverses sélections graphiques</a:t>
            </a:r>
          </a:p>
          <a:p>
            <a:pPr lvl="2"/>
            <a:r>
              <a:rPr lang="fr-CH" dirty="0"/>
              <a:t>Ajout à la sélection (MAJ)	</a:t>
            </a:r>
          </a:p>
          <a:p>
            <a:pPr lvl="2"/>
            <a:endParaRPr lang="fr-CH" dirty="0"/>
          </a:p>
          <a:p>
            <a:pPr lvl="1"/>
            <a:r>
              <a:rPr lang="fr-CH" dirty="0"/>
              <a:t>Sélection par localisation</a:t>
            </a:r>
          </a:p>
          <a:p>
            <a:pPr lvl="2"/>
            <a:r>
              <a:rPr lang="fr-CH" dirty="0"/>
              <a:t>Parcelles qui intersectent des rivières	</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F098373D-6E0C-CD4B-5E42-06AB1EE64BEF}"/>
              </a:ext>
            </a:extLst>
          </p:cNvPr>
          <p:cNvPicPr>
            <a:picLocks noChangeAspect="1"/>
          </p:cNvPicPr>
          <p:nvPr/>
        </p:nvPicPr>
        <p:blipFill>
          <a:blip r:embed="rId4"/>
          <a:stretch>
            <a:fillRect/>
          </a:stretch>
        </p:blipFill>
        <p:spPr>
          <a:xfrm>
            <a:off x="632178" y="1766814"/>
            <a:ext cx="485994" cy="441813"/>
          </a:xfrm>
          <a:prstGeom prst="rect">
            <a:avLst/>
          </a:prstGeom>
        </p:spPr>
      </p:pic>
      <p:pic>
        <p:nvPicPr>
          <p:cNvPr id="8" name="Image 7">
            <a:extLst>
              <a:ext uri="{FF2B5EF4-FFF2-40B4-BE49-F238E27FC236}">
                <a16:creationId xmlns:a16="http://schemas.microsoft.com/office/drawing/2014/main" id="{A473C81A-509C-D1AA-1923-D762D2F18C59}"/>
              </a:ext>
            </a:extLst>
          </p:cNvPr>
          <p:cNvPicPr>
            <a:picLocks noChangeAspect="1"/>
          </p:cNvPicPr>
          <p:nvPr/>
        </p:nvPicPr>
        <p:blipFill>
          <a:blip r:embed="rId5"/>
          <a:stretch>
            <a:fillRect/>
          </a:stretch>
        </p:blipFill>
        <p:spPr>
          <a:xfrm>
            <a:off x="711820" y="3262312"/>
            <a:ext cx="485994" cy="500288"/>
          </a:xfrm>
          <a:prstGeom prst="rect">
            <a:avLst/>
          </a:prstGeom>
        </p:spPr>
      </p:pic>
    </p:spTree>
    <p:extLst>
      <p:ext uri="{BB962C8B-B14F-4D97-AF65-F5344CB8AC3E}">
        <p14:creationId xmlns:p14="http://schemas.microsoft.com/office/powerpoint/2010/main" val="16718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Trouver le numéro de la parcelle qui contient l’église</a:t>
            </a:r>
          </a:p>
          <a:p>
            <a:r>
              <a:rPr lang="fr-FR" dirty="0"/>
              <a:t>Sélectionner toutes les parcelles qui touchent la parcelle 2620</a:t>
            </a:r>
          </a:p>
          <a:p>
            <a:r>
              <a:rPr lang="fr-FR" dirty="0"/>
              <a:t>Sélectionner toutes les parcelles qui ne croisent pas les rivières</a:t>
            </a:r>
          </a:p>
          <a:p>
            <a:pPr lvl="2"/>
            <a:endParaRPr lang="fr-FR" dirty="0"/>
          </a:p>
          <a:p>
            <a:endParaRPr lang="fr-FR" dirty="0"/>
          </a:p>
        </p:txBody>
      </p:sp>
    </p:spTree>
    <p:extLst>
      <p:ext uri="{BB962C8B-B14F-4D97-AF65-F5344CB8AC3E}">
        <p14:creationId xmlns:p14="http://schemas.microsoft.com/office/powerpoint/2010/main" val="3846747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Couches / </a:t>
            </a:r>
            <a:r>
              <a:rPr lang="de-CH" b="1" dirty="0" err="1"/>
              <a:t>données</a:t>
            </a:r>
            <a:r>
              <a:rPr lang="de-CH" b="1" dirty="0"/>
              <a:t> </a:t>
            </a:r>
            <a:r>
              <a:rPr lang="de-CH" b="1" dirty="0" err="1"/>
              <a:t>vectorielles</a:t>
            </a:r>
            <a:endParaRPr lang="de-CH" b="1" dirty="0"/>
          </a:p>
          <a:p>
            <a:pPr lvl="1"/>
            <a:r>
              <a:rPr lang="fr-CH" dirty="0"/>
              <a:t>Symbologie</a:t>
            </a:r>
          </a:p>
          <a:p>
            <a:pPr lvl="2"/>
            <a:r>
              <a:rPr lang="fr-CH" dirty="0"/>
              <a:t>Propriété &gt; Symbologie</a:t>
            </a:r>
          </a:p>
          <a:p>
            <a:pPr lvl="3"/>
            <a:r>
              <a:rPr lang="fr-CH" dirty="0"/>
              <a:t>Symbole par type de route</a:t>
            </a:r>
          </a:p>
          <a:p>
            <a:pPr lvl="2"/>
            <a:r>
              <a:rPr lang="fr-CH" dirty="0"/>
              <a:t>Propriété &gt; Étiquettes</a:t>
            </a:r>
          </a:p>
          <a:p>
            <a:pPr lvl="3"/>
            <a:r>
              <a:rPr lang="fr-CH" dirty="0"/>
              <a:t>Afficher le numéro de parcelle avec un tampon</a:t>
            </a:r>
          </a:p>
          <a:p>
            <a:pPr lvl="2"/>
            <a:r>
              <a:rPr lang="fr-CH" dirty="0"/>
              <a:t>Propriété &gt; Diagrammes</a:t>
            </a:r>
          </a:p>
          <a:p>
            <a:pPr lvl="2"/>
            <a:r>
              <a:rPr lang="fr-CH" dirty="0"/>
              <a:t>Echelles de visibilité</a:t>
            </a:r>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727355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45966"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Mettre les rivières en bleu</a:t>
            </a:r>
          </a:p>
          <a:p>
            <a:r>
              <a:rPr lang="fr-FR" dirty="0"/>
              <a:t>Afficher une étiquette qui contient le nom</a:t>
            </a:r>
          </a:p>
          <a:p>
            <a:r>
              <a:rPr lang="fr-FR" dirty="0"/>
              <a:t>Ajouter une plage de visibilité aux numéros de parcelle</a:t>
            </a:r>
          </a:p>
          <a:p>
            <a:pPr lvl="2"/>
            <a:endParaRPr lang="fr-FR" dirty="0"/>
          </a:p>
          <a:p>
            <a:endParaRPr lang="fr-FR" dirty="0"/>
          </a:p>
        </p:txBody>
      </p:sp>
    </p:spTree>
    <p:extLst>
      <p:ext uri="{BB962C8B-B14F-4D97-AF65-F5344CB8AC3E}">
        <p14:creationId xmlns:p14="http://schemas.microsoft.com/office/powerpoint/2010/main" val="1317154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Edition de </a:t>
            </a:r>
            <a:r>
              <a:rPr lang="de-CH" b="1" dirty="0" err="1"/>
              <a:t>données</a:t>
            </a:r>
            <a:r>
              <a:rPr lang="de-CH" b="1" dirty="0"/>
              <a:t> </a:t>
            </a:r>
            <a:r>
              <a:rPr lang="de-CH" b="1" dirty="0" err="1"/>
              <a:t>vectorielles</a:t>
            </a:r>
            <a:endParaRPr lang="de-CH" b="1" dirty="0"/>
          </a:p>
          <a:p>
            <a:pPr lvl="1"/>
            <a:r>
              <a:rPr lang="de-CH" dirty="0" err="1"/>
              <a:t>Ouvrir</a:t>
            </a:r>
            <a:r>
              <a:rPr lang="de-CH" dirty="0"/>
              <a:t> la </a:t>
            </a:r>
            <a:r>
              <a:rPr lang="de-CH" dirty="0" err="1"/>
              <a:t>table</a:t>
            </a:r>
            <a:r>
              <a:rPr lang="de-CH" dirty="0"/>
              <a:t> </a:t>
            </a:r>
            <a:r>
              <a:rPr lang="de-CH" dirty="0" err="1"/>
              <a:t>attributaire</a:t>
            </a:r>
            <a:r>
              <a:rPr lang="de-CH" dirty="0"/>
              <a:t> de la </a:t>
            </a:r>
            <a:r>
              <a:rPr lang="de-CH" dirty="0" err="1"/>
              <a:t>couche</a:t>
            </a:r>
            <a:r>
              <a:rPr lang="de-CH" dirty="0"/>
              <a:t> </a:t>
            </a:r>
            <a:r>
              <a:rPr lang="de-CH" dirty="0" err="1"/>
              <a:t>parcelle</a:t>
            </a:r>
            <a:endParaRPr lang="de-CH" dirty="0"/>
          </a:p>
          <a:p>
            <a:pPr lvl="2"/>
            <a:r>
              <a:rPr lang="de-CH" dirty="0" err="1"/>
              <a:t>Entrer</a:t>
            </a:r>
            <a:r>
              <a:rPr lang="de-CH" dirty="0"/>
              <a:t> en </a:t>
            </a:r>
            <a:r>
              <a:rPr lang="de-CH" dirty="0" err="1"/>
              <a:t>mode</a:t>
            </a:r>
            <a:r>
              <a:rPr lang="de-CH" dirty="0"/>
              <a:t> </a:t>
            </a:r>
            <a:r>
              <a:rPr lang="de-CH" dirty="0" err="1"/>
              <a:t>édition</a:t>
            </a:r>
            <a:r>
              <a:rPr lang="de-CH" dirty="0"/>
              <a:t> (</a:t>
            </a:r>
            <a:r>
              <a:rPr lang="de-CH" dirty="0" err="1"/>
              <a:t>icône</a:t>
            </a:r>
            <a:r>
              <a:rPr lang="de-CH" dirty="0"/>
              <a:t> </a:t>
            </a:r>
            <a:r>
              <a:rPr lang="de-CH" dirty="0" err="1"/>
              <a:t>crayon</a:t>
            </a:r>
            <a:r>
              <a:rPr lang="de-CH" dirty="0"/>
              <a:t>)</a:t>
            </a:r>
          </a:p>
          <a:p>
            <a:pPr lvl="2"/>
            <a:r>
              <a:rPr lang="de-CH" dirty="0" err="1"/>
              <a:t>Editer</a:t>
            </a:r>
            <a:r>
              <a:rPr lang="de-CH" dirty="0"/>
              <a:t> le </a:t>
            </a:r>
            <a:r>
              <a:rPr lang="de-CH" dirty="0" err="1"/>
              <a:t>numéro</a:t>
            </a:r>
            <a:r>
              <a:rPr lang="de-CH" dirty="0"/>
              <a:t> de </a:t>
            </a:r>
            <a:r>
              <a:rPr lang="de-CH" dirty="0" err="1"/>
              <a:t>parcelle</a:t>
            </a:r>
            <a:endParaRPr lang="de-CH" dirty="0"/>
          </a:p>
          <a:p>
            <a:pPr lvl="2"/>
            <a:r>
              <a:rPr lang="de-CH" dirty="0" err="1"/>
              <a:t>Enregistrer</a:t>
            </a:r>
            <a:r>
              <a:rPr lang="de-CH" dirty="0"/>
              <a:t> </a:t>
            </a:r>
            <a:r>
              <a:rPr lang="de-CH" dirty="0" err="1"/>
              <a:t>les</a:t>
            </a:r>
            <a:r>
              <a:rPr lang="de-CH" dirty="0"/>
              <a:t> </a:t>
            </a:r>
            <a:r>
              <a:rPr lang="de-CH" dirty="0" err="1"/>
              <a:t>modification</a:t>
            </a:r>
            <a:r>
              <a:rPr lang="de-CH" dirty="0"/>
              <a:t> </a:t>
            </a:r>
          </a:p>
          <a:p>
            <a:pPr lvl="2"/>
            <a:r>
              <a:rPr lang="de-CH" dirty="0"/>
              <a:t>Edition multiple</a:t>
            </a:r>
          </a:p>
          <a:p>
            <a:pPr lvl="3"/>
            <a:r>
              <a:rPr lang="de-CH" dirty="0" err="1"/>
              <a:t>Changer</a:t>
            </a:r>
            <a:r>
              <a:rPr lang="de-CH" dirty="0"/>
              <a:t> la date de </a:t>
            </a:r>
            <a:r>
              <a:rPr lang="de-CH" dirty="0" err="1"/>
              <a:t>mise</a:t>
            </a:r>
            <a:r>
              <a:rPr lang="de-CH" dirty="0"/>
              <a:t> à jour </a:t>
            </a:r>
            <a:r>
              <a:rPr lang="de-CH" dirty="0" err="1"/>
              <a:t>pour</a:t>
            </a:r>
            <a:r>
              <a:rPr lang="de-CH" dirty="0"/>
              <a:t> </a:t>
            </a:r>
            <a:r>
              <a:rPr lang="de-CH" dirty="0" err="1"/>
              <a:t>une</a:t>
            </a:r>
            <a:r>
              <a:rPr lang="de-CH" dirty="0"/>
              <a:t> </a:t>
            </a:r>
            <a:r>
              <a:rPr lang="de-CH" dirty="0" err="1"/>
              <a:t>sélection</a:t>
            </a:r>
            <a:r>
              <a:rPr lang="de-CH" dirty="0"/>
              <a:t> de </a:t>
            </a:r>
            <a:r>
              <a:rPr lang="de-CH" dirty="0" err="1"/>
              <a:t>parcelle</a:t>
            </a:r>
            <a:endParaRPr lang="de-CH" dirty="0"/>
          </a:p>
          <a:p>
            <a:pPr lvl="2"/>
            <a:r>
              <a:rPr lang="de-CH" dirty="0" err="1"/>
              <a:t>Ajouter</a:t>
            </a:r>
            <a:r>
              <a:rPr lang="de-CH" dirty="0"/>
              <a:t> </a:t>
            </a:r>
            <a:r>
              <a:rPr lang="de-CH" dirty="0" err="1"/>
              <a:t>un</a:t>
            </a:r>
            <a:r>
              <a:rPr lang="de-CH" dirty="0"/>
              <a:t> </a:t>
            </a:r>
            <a:r>
              <a:rPr lang="de-CH" dirty="0" err="1"/>
              <a:t>champs</a:t>
            </a:r>
            <a:endParaRPr lang="de-CH" dirty="0"/>
          </a:p>
          <a:p>
            <a:pPr lvl="3"/>
            <a:r>
              <a:rPr lang="de-CH" dirty="0"/>
              <a:t>Surface: </a:t>
            </a:r>
            <a:r>
              <a:rPr lang="de-CH" dirty="0" err="1"/>
              <a:t>Entier</a:t>
            </a:r>
            <a:endParaRPr lang="de-CH" dirty="0"/>
          </a:p>
          <a:p>
            <a:pPr lvl="2"/>
            <a:r>
              <a:rPr lang="de-CH" dirty="0" err="1"/>
              <a:t>Calculer</a:t>
            </a:r>
            <a:r>
              <a:rPr lang="de-CH" dirty="0"/>
              <a:t> </a:t>
            </a:r>
            <a:r>
              <a:rPr lang="de-CH" dirty="0" err="1"/>
              <a:t>un</a:t>
            </a:r>
            <a:r>
              <a:rPr lang="de-CH" dirty="0"/>
              <a:t> </a:t>
            </a:r>
            <a:r>
              <a:rPr lang="de-CH" dirty="0" err="1"/>
              <a:t>champs</a:t>
            </a:r>
            <a:endParaRPr lang="de-CH" dirty="0"/>
          </a:p>
          <a:p>
            <a:pPr lvl="3"/>
            <a:r>
              <a:rPr lang="de-CH" dirty="0" err="1"/>
              <a:t>Remplir</a:t>
            </a:r>
            <a:r>
              <a:rPr lang="de-CH" dirty="0"/>
              <a:t> </a:t>
            </a:r>
            <a:r>
              <a:rPr lang="de-CH" dirty="0" err="1"/>
              <a:t>l’attribut</a:t>
            </a:r>
            <a:r>
              <a:rPr lang="de-CH" dirty="0"/>
              <a:t> «Surface» </a:t>
            </a:r>
            <a:r>
              <a:rPr lang="de-CH" dirty="0" err="1"/>
              <a:t>avec</a:t>
            </a:r>
            <a:r>
              <a:rPr lang="de-CH" dirty="0"/>
              <a:t> la </a:t>
            </a:r>
            <a:r>
              <a:rPr lang="de-CH" dirty="0" err="1"/>
              <a:t>surface</a:t>
            </a:r>
            <a:r>
              <a:rPr lang="de-CH" dirty="0"/>
              <a:t> de la </a:t>
            </a:r>
            <a:r>
              <a:rPr lang="de-CH" dirty="0" err="1"/>
              <a:t>parcelle</a:t>
            </a:r>
            <a:endParaRPr lang="de-CH" dirty="0"/>
          </a:p>
          <a:p>
            <a:pPr lvl="2"/>
            <a:r>
              <a:rPr lang="de-CH" dirty="0" err="1"/>
              <a:t>Supprimer</a:t>
            </a:r>
            <a:r>
              <a:rPr lang="de-CH" dirty="0"/>
              <a:t> </a:t>
            </a:r>
            <a:r>
              <a:rPr lang="de-CH" dirty="0" err="1"/>
              <a:t>une</a:t>
            </a:r>
            <a:r>
              <a:rPr lang="de-CH" dirty="0"/>
              <a:t> </a:t>
            </a:r>
            <a:r>
              <a:rPr lang="de-CH" dirty="0" err="1"/>
              <a:t>entité</a:t>
            </a:r>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93168AB8-C72B-0EDF-D0D2-4461B98B67C0}"/>
              </a:ext>
            </a:extLst>
          </p:cNvPr>
          <p:cNvPicPr>
            <a:picLocks noChangeAspect="1"/>
          </p:cNvPicPr>
          <p:nvPr/>
        </p:nvPicPr>
        <p:blipFill>
          <a:blip r:embed="rId4"/>
          <a:stretch>
            <a:fillRect/>
          </a:stretch>
        </p:blipFill>
        <p:spPr>
          <a:xfrm>
            <a:off x="934948" y="2136168"/>
            <a:ext cx="417441" cy="404791"/>
          </a:xfrm>
          <a:prstGeom prst="rect">
            <a:avLst/>
          </a:prstGeom>
        </p:spPr>
      </p:pic>
      <p:pic>
        <p:nvPicPr>
          <p:cNvPr id="8" name="Image 7">
            <a:extLst>
              <a:ext uri="{FF2B5EF4-FFF2-40B4-BE49-F238E27FC236}">
                <a16:creationId xmlns:a16="http://schemas.microsoft.com/office/drawing/2014/main" id="{D0A9D406-7618-C39E-D06E-13D09D92010C}"/>
              </a:ext>
            </a:extLst>
          </p:cNvPr>
          <p:cNvPicPr>
            <a:picLocks noChangeAspect="1"/>
          </p:cNvPicPr>
          <p:nvPr/>
        </p:nvPicPr>
        <p:blipFill>
          <a:blip r:embed="rId5"/>
          <a:stretch>
            <a:fillRect/>
          </a:stretch>
        </p:blipFill>
        <p:spPr>
          <a:xfrm>
            <a:off x="934948" y="2680999"/>
            <a:ext cx="417441" cy="417441"/>
          </a:xfrm>
          <a:prstGeom prst="rect">
            <a:avLst/>
          </a:prstGeom>
        </p:spPr>
      </p:pic>
      <p:pic>
        <p:nvPicPr>
          <p:cNvPr id="10" name="Image 9">
            <a:extLst>
              <a:ext uri="{FF2B5EF4-FFF2-40B4-BE49-F238E27FC236}">
                <a16:creationId xmlns:a16="http://schemas.microsoft.com/office/drawing/2014/main" id="{FE430FB1-B062-5D7E-1E7F-A3101DF80533}"/>
              </a:ext>
            </a:extLst>
          </p:cNvPr>
          <p:cNvPicPr>
            <a:picLocks noChangeAspect="1"/>
          </p:cNvPicPr>
          <p:nvPr/>
        </p:nvPicPr>
        <p:blipFill>
          <a:blip r:embed="rId6"/>
          <a:stretch>
            <a:fillRect/>
          </a:stretch>
        </p:blipFill>
        <p:spPr>
          <a:xfrm>
            <a:off x="934948" y="3153164"/>
            <a:ext cx="417441" cy="434139"/>
          </a:xfrm>
          <a:prstGeom prst="rect">
            <a:avLst/>
          </a:prstGeom>
        </p:spPr>
      </p:pic>
      <p:pic>
        <p:nvPicPr>
          <p:cNvPr id="12" name="Image 11">
            <a:extLst>
              <a:ext uri="{FF2B5EF4-FFF2-40B4-BE49-F238E27FC236}">
                <a16:creationId xmlns:a16="http://schemas.microsoft.com/office/drawing/2014/main" id="{7CA3DAE4-0BBC-1469-D3E5-C0B650984F88}"/>
              </a:ext>
            </a:extLst>
          </p:cNvPr>
          <p:cNvPicPr>
            <a:picLocks noChangeAspect="1"/>
          </p:cNvPicPr>
          <p:nvPr/>
        </p:nvPicPr>
        <p:blipFill>
          <a:blip r:embed="rId7"/>
          <a:stretch>
            <a:fillRect/>
          </a:stretch>
        </p:blipFill>
        <p:spPr>
          <a:xfrm>
            <a:off x="934947" y="3792409"/>
            <a:ext cx="417441" cy="385330"/>
          </a:xfrm>
          <a:prstGeom prst="rect">
            <a:avLst/>
          </a:prstGeom>
        </p:spPr>
      </p:pic>
      <p:pic>
        <p:nvPicPr>
          <p:cNvPr id="16" name="Image 15">
            <a:extLst>
              <a:ext uri="{FF2B5EF4-FFF2-40B4-BE49-F238E27FC236}">
                <a16:creationId xmlns:a16="http://schemas.microsoft.com/office/drawing/2014/main" id="{64C0CF18-22AF-DCEF-8E1D-0EF6AE92D178}"/>
              </a:ext>
            </a:extLst>
          </p:cNvPr>
          <p:cNvPicPr>
            <a:picLocks noChangeAspect="1"/>
          </p:cNvPicPr>
          <p:nvPr/>
        </p:nvPicPr>
        <p:blipFill>
          <a:blip r:embed="rId8"/>
          <a:stretch>
            <a:fillRect/>
          </a:stretch>
        </p:blipFill>
        <p:spPr>
          <a:xfrm>
            <a:off x="934947" y="4349890"/>
            <a:ext cx="429790" cy="385329"/>
          </a:xfrm>
          <a:prstGeom prst="rect">
            <a:avLst/>
          </a:prstGeom>
        </p:spPr>
      </p:pic>
      <p:pic>
        <p:nvPicPr>
          <p:cNvPr id="18" name="Image 17">
            <a:extLst>
              <a:ext uri="{FF2B5EF4-FFF2-40B4-BE49-F238E27FC236}">
                <a16:creationId xmlns:a16="http://schemas.microsoft.com/office/drawing/2014/main" id="{F5C0CAA2-2DEF-5043-C7B7-86200F6EC07F}"/>
              </a:ext>
            </a:extLst>
          </p:cNvPr>
          <p:cNvPicPr>
            <a:picLocks noChangeAspect="1"/>
          </p:cNvPicPr>
          <p:nvPr/>
        </p:nvPicPr>
        <p:blipFill>
          <a:blip r:embed="rId9"/>
          <a:stretch>
            <a:fillRect/>
          </a:stretch>
        </p:blipFill>
        <p:spPr>
          <a:xfrm>
            <a:off x="948646" y="4991696"/>
            <a:ext cx="403742" cy="403742"/>
          </a:xfrm>
          <a:prstGeom prst="rect">
            <a:avLst/>
          </a:prstGeom>
        </p:spPr>
      </p:pic>
    </p:spTree>
    <p:extLst>
      <p:ext uri="{BB962C8B-B14F-4D97-AF65-F5344CB8AC3E}">
        <p14:creationId xmlns:p14="http://schemas.microsoft.com/office/powerpoint/2010/main" val="1242576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Renommer le segment </a:t>
            </a:r>
          </a:p>
          <a:p>
            <a:r>
              <a:rPr lang="fr-FR" dirty="0"/>
              <a:t>Renommer d’une fois toutes les lignes qui constituent le Rhône</a:t>
            </a:r>
          </a:p>
          <a:p>
            <a:r>
              <a:rPr lang="fr-FR" dirty="0"/>
              <a:t>Calculer le champs « longueur » qui contient la longueur des segments</a:t>
            </a:r>
          </a:p>
          <a:p>
            <a:r>
              <a:rPr lang="fr-FR" dirty="0"/>
              <a:t>Sélectionner tous les swissNAMES3D qui touchent la commune, supprimer tous les autres</a:t>
            </a:r>
          </a:p>
          <a:p>
            <a:endParaRPr lang="fr-FR" dirty="0"/>
          </a:p>
        </p:txBody>
      </p:sp>
    </p:spTree>
    <p:extLst>
      <p:ext uri="{BB962C8B-B14F-4D97-AF65-F5344CB8AC3E}">
        <p14:creationId xmlns:p14="http://schemas.microsoft.com/office/powerpoint/2010/main" val="4177278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Edition de </a:t>
            </a:r>
            <a:r>
              <a:rPr lang="de-CH" b="1" dirty="0" err="1"/>
              <a:t>données</a:t>
            </a:r>
            <a:r>
              <a:rPr lang="de-CH" b="1" dirty="0"/>
              <a:t> </a:t>
            </a:r>
            <a:r>
              <a:rPr lang="de-CH" b="1" dirty="0" err="1"/>
              <a:t>vectorielles</a:t>
            </a:r>
            <a:endParaRPr lang="de-CH" b="1" dirty="0"/>
          </a:p>
          <a:p>
            <a:pPr lvl="1"/>
            <a:r>
              <a:rPr lang="de-CH" dirty="0"/>
              <a:t>Edition de la </a:t>
            </a:r>
            <a:r>
              <a:rPr lang="de-CH" dirty="0" err="1"/>
              <a:t>géométrie</a:t>
            </a:r>
            <a:endParaRPr lang="de-CH" dirty="0"/>
          </a:p>
          <a:p>
            <a:pPr lvl="2"/>
            <a:r>
              <a:rPr lang="de-CH" dirty="0" err="1"/>
              <a:t>Entrer</a:t>
            </a:r>
            <a:r>
              <a:rPr lang="de-CH" dirty="0"/>
              <a:t> en </a:t>
            </a:r>
            <a:r>
              <a:rPr lang="de-CH" dirty="0" err="1"/>
              <a:t>mode</a:t>
            </a:r>
            <a:r>
              <a:rPr lang="de-CH" dirty="0"/>
              <a:t> </a:t>
            </a:r>
            <a:r>
              <a:rPr lang="de-CH" dirty="0" err="1"/>
              <a:t>édition</a:t>
            </a:r>
            <a:r>
              <a:rPr lang="de-CH" dirty="0"/>
              <a:t> (</a:t>
            </a:r>
            <a:r>
              <a:rPr lang="de-CH" dirty="0" err="1"/>
              <a:t>icône</a:t>
            </a:r>
            <a:r>
              <a:rPr lang="de-CH" dirty="0"/>
              <a:t> </a:t>
            </a:r>
            <a:r>
              <a:rPr lang="de-CH" dirty="0" err="1"/>
              <a:t>crayon</a:t>
            </a:r>
            <a:r>
              <a:rPr lang="de-CH" dirty="0"/>
              <a:t>)</a:t>
            </a:r>
          </a:p>
          <a:p>
            <a:pPr lvl="2"/>
            <a:r>
              <a:rPr lang="de-CH" dirty="0" err="1"/>
              <a:t>Ajouter</a:t>
            </a:r>
            <a:r>
              <a:rPr lang="de-CH" dirty="0"/>
              <a:t> </a:t>
            </a:r>
            <a:r>
              <a:rPr lang="de-CH" dirty="0" err="1"/>
              <a:t>une</a:t>
            </a:r>
            <a:r>
              <a:rPr lang="de-CH" dirty="0"/>
              <a:t> </a:t>
            </a:r>
            <a:r>
              <a:rPr lang="de-CH" dirty="0" err="1"/>
              <a:t>entité</a:t>
            </a:r>
            <a:endParaRPr lang="de-CH" dirty="0"/>
          </a:p>
          <a:p>
            <a:pPr lvl="2"/>
            <a:r>
              <a:rPr lang="de-CH" dirty="0" err="1"/>
              <a:t>Enregistrer</a:t>
            </a:r>
            <a:r>
              <a:rPr lang="de-CH" dirty="0"/>
              <a:t> </a:t>
            </a:r>
            <a:r>
              <a:rPr lang="de-CH" dirty="0" err="1"/>
              <a:t>les</a:t>
            </a:r>
            <a:r>
              <a:rPr lang="de-CH" dirty="0"/>
              <a:t> </a:t>
            </a:r>
            <a:r>
              <a:rPr lang="de-CH" dirty="0" err="1"/>
              <a:t>modification</a:t>
            </a:r>
            <a:endParaRPr lang="de-CH" dirty="0"/>
          </a:p>
          <a:p>
            <a:pPr lvl="2"/>
            <a:r>
              <a:rPr lang="de-CH" dirty="0" err="1"/>
              <a:t>Editer</a:t>
            </a:r>
            <a:r>
              <a:rPr lang="de-CH" dirty="0"/>
              <a:t> la </a:t>
            </a:r>
            <a:r>
              <a:rPr lang="de-CH" dirty="0" err="1"/>
              <a:t>géométrie</a:t>
            </a:r>
            <a:r>
              <a:rPr lang="de-CH" dirty="0"/>
              <a:t> </a:t>
            </a:r>
            <a:r>
              <a:rPr lang="de-CH" dirty="0" err="1"/>
              <a:t>d’une</a:t>
            </a:r>
            <a:r>
              <a:rPr lang="de-CH" dirty="0"/>
              <a:t> </a:t>
            </a:r>
            <a:r>
              <a:rPr lang="de-CH" dirty="0" err="1"/>
              <a:t>entité</a:t>
            </a:r>
            <a:endParaRPr lang="de-CH" dirty="0"/>
          </a:p>
          <a:p>
            <a:pPr lvl="2"/>
            <a:endParaRPr lang="de-CH" dirty="0"/>
          </a:p>
          <a:p>
            <a:pPr lvl="2"/>
            <a:endParaRPr lang="de-CH" dirty="0"/>
          </a:p>
          <a:p>
            <a:pPr lvl="1"/>
            <a:r>
              <a:rPr lang="de-CH" dirty="0"/>
              <a:t>Accrochage</a:t>
            </a:r>
          </a:p>
          <a:p>
            <a:pPr lvl="2"/>
            <a:r>
              <a:rPr lang="de-CH" dirty="0"/>
              <a:t>Vue &gt; Barre </a:t>
            </a:r>
            <a:r>
              <a:rPr lang="de-CH" dirty="0" err="1"/>
              <a:t>d’outils</a:t>
            </a:r>
            <a:r>
              <a:rPr lang="de-CH" dirty="0"/>
              <a:t> &gt; Accrochage</a:t>
            </a:r>
          </a:p>
          <a:p>
            <a:pPr lvl="2"/>
            <a:r>
              <a:rPr lang="de-CH" dirty="0"/>
              <a:t>Edition </a:t>
            </a:r>
            <a:r>
              <a:rPr lang="de-CH" dirty="0" err="1"/>
              <a:t>topologique</a:t>
            </a:r>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93168AB8-C72B-0EDF-D0D2-4461B98B67C0}"/>
              </a:ext>
            </a:extLst>
          </p:cNvPr>
          <p:cNvPicPr>
            <a:picLocks noChangeAspect="1"/>
          </p:cNvPicPr>
          <p:nvPr/>
        </p:nvPicPr>
        <p:blipFill>
          <a:blip r:embed="rId4"/>
          <a:stretch>
            <a:fillRect/>
          </a:stretch>
        </p:blipFill>
        <p:spPr>
          <a:xfrm>
            <a:off x="934948" y="2136168"/>
            <a:ext cx="417441" cy="404791"/>
          </a:xfrm>
          <a:prstGeom prst="rect">
            <a:avLst/>
          </a:prstGeom>
        </p:spPr>
      </p:pic>
      <p:pic>
        <p:nvPicPr>
          <p:cNvPr id="8" name="Image 7">
            <a:extLst>
              <a:ext uri="{FF2B5EF4-FFF2-40B4-BE49-F238E27FC236}">
                <a16:creationId xmlns:a16="http://schemas.microsoft.com/office/drawing/2014/main" id="{D0A9D406-7618-C39E-D06E-13D09D92010C}"/>
              </a:ext>
            </a:extLst>
          </p:cNvPr>
          <p:cNvPicPr>
            <a:picLocks noChangeAspect="1"/>
          </p:cNvPicPr>
          <p:nvPr/>
        </p:nvPicPr>
        <p:blipFill>
          <a:blip r:embed="rId5"/>
          <a:stretch>
            <a:fillRect/>
          </a:stretch>
        </p:blipFill>
        <p:spPr>
          <a:xfrm>
            <a:off x="934948" y="3052520"/>
            <a:ext cx="417441" cy="417441"/>
          </a:xfrm>
          <a:prstGeom prst="rect">
            <a:avLst/>
          </a:prstGeom>
        </p:spPr>
      </p:pic>
      <p:pic>
        <p:nvPicPr>
          <p:cNvPr id="7" name="Image 6">
            <a:extLst>
              <a:ext uri="{FF2B5EF4-FFF2-40B4-BE49-F238E27FC236}">
                <a16:creationId xmlns:a16="http://schemas.microsoft.com/office/drawing/2014/main" id="{E7834144-E6D0-00EB-3CCA-84B27CA98BA3}"/>
              </a:ext>
            </a:extLst>
          </p:cNvPr>
          <p:cNvPicPr>
            <a:picLocks noChangeAspect="1"/>
          </p:cNvPicPr>
          <p:nvPr/>
        </p:nvPicPr>
        <p:blipFill>
          <a:blip r:embed="rId6"/>
          <a:stretch>
            <a:fillRect/>
          </a:stretch>
        </p:blipFill>
        <p:spPr>
          <a:xfrm>
            <a:off x="934947" y="2599946"/>
            <a:ext cx="417441" cy="393587"/>
          </a:xfrm>
          <a:prstGeom prst="rect">
            <a:avLst/>
          </a:prstGeom>
        </p:spPr>
      </p:pic>
      <p:pic>
        <p:nvPicPr>
          <p:cNvPr id="11" name="Image 10">
            <a:extLst>
              <a:ext uri="{FF2B5EF4-FFF2-40B4-BE49-F238E27FC236}">
                <a16:creationId xmlns:a16="http://schemas.microsoft.com/office/drawing/2014/main" id="{8F98EC37-7393-C2B6-26A5-5980739DD79F}"/>
              </a:ext>
            </a:extLst>
          </p:cNvPr>
          <p:cNvPicPr>
            <a:picLocks noChangeAspect="1"/>
          </p:cNvPicPr>
          <p:nvPr/>
        </p:nvPicPr>
        <p:blipFill>
          <a:blip r:embed="rId7"/>
          <a:stretch>
            <a:fillRect/>
          </a:stretch>
        </p:blipFill>
        <p:spPr>
          <a:xfrm>
            <a:off x="934946" y="3550143"/>
            <a:ext cx="417441" cy="382654"/>
          </a:xfrm>
          <a:prstGeom prst="rect">
            <a:avLst/>
          </a:prstGeom>
        </p:spPr>
      </p:pic>
      <p:pic>
        <p:nvPicPr>
          <p:cNvPr id="14" name="Image 13">
            <a:extLst>
              <a:ext uri="{FF2B5EF4-FFF2-40B4-BE49-F238E27FC236}">
                <a16:creationId xmlns:a16="http://schemas.microsoft.com/office/drawing/2014/main" id="{240BF04B-B5E0-0776-B1C3-629A4BA5D515}"/>
              </a:ext>
            </a:extLst>
          </p:cNvPr>
          <p:cNvPicPr>
            <a:picLocks noChangeAspect="1"/>
          </p:cNvPicPr>
          <p:nvPr/>
        </p:nvPicPr>
        <p:blipFill>
          <a:blip r:embed="rId8"/>
          <a:stretch>
            <a:fillRect/>
          </a:stretch>
        </p:blipFill>
        <p:spPr>
          <a:xfrm>
            <a:off x="934946" y="4605483"/>
            <a:ext cx="426386" cy="382654"/>
          </a:xfrm>
          <a:prstGeom prst="rect">
            <a:avLst/>
          </a:prstGeom>
        </p:spPr>
      </p:pic>
    </p:spTree>
    <p:extLst>
      <p:ext uri="{BB962C8B-B14F-4D97-AF65-F5344CB8AC3E}">
        <p14:creationId xmlns:p14="http://schemas.microsoft.com/office/powerpoint/2010/main" val="21918902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Edition de </a:t>
            </a:r>
            <a:r>
              <a:rPr lang="de-CH" b="1" dirty="0" err="1"/>
              <a:t>données</a:t>
            </a:r>
            <a:r>
              <a:rPr lang="de-CH" b="1" dirty="0"/>
              <a:t> </a:t>
            </a:r>
            <a:r>
              <a:rPr lang="de-CH" b="1" dirty="0" err="1"/>
              <a:t>vectorielles</a:t>
            </a:r>
            <a:endParaRPr lang="de-CH" b="1" dirty="0"/>
          </a:p>
          <a:p>
            <a:pPr lvl="1"/>
            <a:r>
              <a:rPr lang="de-CH" dirty="0"/>
              <a:t>Edition des </a:t>
            </a:r>
            <a:r>
              <a:rPr lang="de-CH" dirty="0" err="1"/>
              <a:t>coordonnées</a:t>
            </a:r>
            <a:r>
              <a:rPr lang="de-CH" dirty="0"/>
              <a:t> des noeuds</a:t>
            </a:r>
          </a:p>
          <a:p>
            <a:pPr lvl="2"/>
            <a:r>
              <a:rPr lang="fr-FR" dirty="0"/>
              <a:t>panneau « Editeur de sommet »</a:t>
            </a:r>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10" name="Image 9">
            <a:extLst>
              <a:ext uri="{FF2B5EF4-FFF2-40B4-BE49-F238E27FC236}">
                <a16:creationId xmlns:a16="http://schemas.microsoft.com/office/drawing/2014/main" id="{4CEC308F-265B-A8A0-C746-D6DE75F1DCE9}"/>
              </a:ext>
            </a:extLst>
          </p:cNvPr>
          <p:cNvPicPr>
            <a:picLocks noChangeAspect="1"/>
          </p:cNvPicPr>
          <p:nvPr/>
        </p:nvPicPr>
        <p:blipFill>
          <a:blip r:embed="rId4"/>
          <a:stretch>
            <a:fillRect/>
          </a:stretch>
        </p:blipFill>
        <p:spPr>
          <a:xfrm>
            <a:off x="4848225" y="5295341"/>
            <a:ext cx="2495550" cy="1047750"/>
          </a:xfrm>
          <a:prstGeom prst="rect">
            <a:avLst/>
          </a:prstGeom>
        </p:spPr>
      </p:pic>
    </p:spTree>
    <p:extLst>
      <p:ext uri="{BB962C8B-B14F-4D97-AF65-F5344CB8AC3E}">
        <p14:creationId xmlns:p14="http://schemas.microsoft.com/office/powerpoint/2010/main" val="26692682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Ajouter un nouveau nom de lieu</a:t>
            </a:r>
          </a:p>
          <a:p>
            <a:r>
              <a:rPr lang="fr-FR" dirty="0"/>
              <a:t>Déplacer le nom de lieu « Citerne d'</a:t>
            </a:r>
            <a:r>
              <a:rPr lang="fr-FR" dirty="0" err="1"/>
              <a:t>Isières</a:t>
            </a:r>
            <a:r>
              <a:rPr lang="fr-FR" dirty="0"/>
              <a:t> »</a:t>
            </a:r>
          </a:p>
          <a:p>
            <a:r>
              <a:rPr lang="fr-FR" dirty="0"/>
              <a:t>Ajouter un segment au Rhône à l’Ouest</a:t>
            </a:r>
          </a:p>
          <a:p>
            <a:r>
              <a:rPr lang="fr-FR" dirty="0"/>
              <a:t>Prolonger le segment du Rhône à l’Est</a:t>
            </a:r>
          </a:p>
          <a:p>
            <a:r>
              <a:rPr lang="fr-FR" dirty="0"/>
              <a:t>Ajouter une parcelle</a:t>
            </a:r>
          </a:p>
          <a:p>
            <a:r>
              <a:rPr lang="fr-FR" dirty="0"/>
              <a:t>Editer une parcelle en préservant la topologie</a:t>
            </a:r>
          </a:p>
          <a:p>
            <a:endParaRPr lang="fr-FR" dirty="0"/>
          </a:p>
          <a:p>
            <a:endParaRPr lang="fr-FR" dirty="0"/>
          </a:p>
        </p:txBody>
      </p:sp>
    </p:spTree>
    <p:extLst>
      <p:ext uri="{BB962C8B-B14F-4D97-AF65-F5344CB8AC3E}">
        <p14:creationId xmlns:p14="http://schemas.microsoft.com/office/powerpoint/2010/main" val="4286460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a:t>Export</a:t>
            </a:r>
          </a:p>
          <a:p>
            <a:pPr lvl="1"/>
            <a:r>
              <a:rPr lang="de-CH" dirty="0" err="1"/>
              <a:t>Clic</a:t>
            </a:r>
            <a:r>
              <a:rPr lang="de-CH" dirty="0"/>
              <a:t> </a:t>
            </a:r>
            <a:r>
              <a:rPr lang="de-CH" dirty="0" err="1"/>
              <a:t>droit</a:t>
            </a:r>
            <a:r>
              <a:rPr lang="de-CH" dirty="0"/>
              <a:t> </a:t>
            </a:r>
            <a:r>
              <a:rPr lang="de-CH" dirty="0" err="1"/>
              <a:t>sur</a:t>
            </a:r>
            <a:r>
              <a:rPr lang="de-CH" dirty="0"/>
              <a:t> la </a:t>
            </a:r>
            <a:r>
              <a:rPr lang="de-CH" dirty="0" err="1"/>
              <a:t>couche</a:t>
            </a:r>
            <a:r>
              <a:rPr lang="de-CH" dirty="0"/>
              <a:t> &gt; </a:t>
            </a:r>
            <a:r>
              <a:rPr lang="de-CH" dirty="0" err="1"/>
              <a:t>Exporter</a:t>
            </a:r>
            <a:r>
              <a:rPr lang="de-CH" dirty="0"/>
              <a:t> &gt; </a:t>
            </a:r>
            <a:r>
              <a:rPr lang="de-CH" dirty="0" err="1"/>
              <a:t>Sauvegarder</a:t>
            </a:r>
            <a:r>
              <a:rPr lang="de-CH" dirty="0"/>
              <a:t> </a:t>
            </a:r>
            <a:r>
              <a:rPr lang="de-CH" dirty="0" err="1"/>
              <a:t>les</a:t>
            </a:r>
            <a:r>
              <a:rPr lang="de-CH" dirty="0"/>
              <a:t> </a:t>
            </a:r>
            <a:r>
              <a:rPr lang="de-CH" dirty="0" err="1"/>
              <a:t>entités</a:t>
            </a:r>
            <a:r>
              <a:rPr lang="de-CH" dirty="0"/>
              <a:t> </a:t>
            </a:r>
            <a:r>
              <a:rPr lang="de-CH" dirty="0" err="1"/>
              <a:t>sous</a:t>
            </a:r>
            <a:endParaRPr lang="de-CH" dirty="0"/>
          </a:p>
          <a:p>
            <a:pPr lvl="1"/>
            <a:r>
              <a:rPr lang="de-CH" dirty="0"/>
              <a:t>Format</a:t>
            </a:r>
          </a:p>
          <a:p>
            <a:pPr lvl="2"/>
            <a:r>
              <a:rPr lang="de-CH" dirty="0"/>
              <a:t>Geopackage</a:t>
            </a:r>
          </a:p>
          <a:p>
            <a:pPr lvl="2"/>
            <a:r>
              <a:rPr lang="de-CH" dirty="0"/>
              <a:t>ESRI </a:t>
            </a:r>
            <a:r>
              <a:rPr lang="de-CH" dirty="0" err="1"/>
              <a:t>shapefile</a:t>
            </a:r>
            <a:endParaRPr lang="de-CH" dirty="0"/>
          </a:p>
          <a:p>
            <a:pPr lvl="2"/>
            <a:r>
              <a:rPr lang="de-CH" dirty="0" err="1"/>
              <a:t>Autocad</a:t>
            </a:r>
            <a:r>
              <a:rPr lang="de-CH" dirty="0"/>
              <a:t> DXF</a:t>
            </a:r>
          </a:p>
          <a:p>
            <a:pPr lvl="2"/>
            <a:r>
              <a:rPr lang="de-CH" dirty="0"/>
              <a:t>ESRI </a:t>
            </a:r>
            <a:r>
              <a:rPr lang="de-CH" dirty="0" err="1"/>
              <a:t>Filegdb</a:t>
            </a:r>
            <a:endParaRPr lang="de-CH" dirty="0"/>
          </a:p>
          <a:p>
            <a:pPr lvl="2"/>
            <a:r>
              <a:rPr lang="de-CH" dirty="0"/>
              <a:t>XLSX</a:t>
            </a:r>
          </a:p>
          <a:p>
            <a:pPr lvl="2"/>
            <a:r>
              <a:rPr lang="de-CH" dirty="0"/>
              <a:t>CSV</a:t>
            </a:r>
          </a:p>
          <a:p>
            <a:pPr lvl="1"/>
            <a:r>
              <a:rPr lang="de-CH" dirty="0" err="1"/>
              <a:t>Possibilité</a:t>
            </a:r>
            <a:r>
              <a:rPr lang="de-CH" dirty="0"/>
              <a:t> </a:t>
            </a:r>
            <a:r>
              <a:rPr lang="de-CH" dirty="0" err="1"/>
              <a:t>d’exporter</a:t>
            </a:r>
            <a:r>
              <a:rPr lang="de-CH" dirty="0"/>
              <a:t> </a:t>
            </a:r>
            <a:r>
              <a:rPr lang="de-CH" dirty="0" err="1"/>
              <a:t>seulement</a:t>
            </a:r>
            <a:r>
              <a:rPr lang="de-CH" dirty="0"/>
              <a:t> la </a:t>
            </a:r>
            <a:r>
              <a:rPr lang="de-CH" dirty="0" err="1"/>
              <a:t>sélection</a:t>
            </a:r>
            <a:endParaRPr lang="de-CH" dirty="0"/>
          </a:p>
          <a:p>
            <a:pPr lvl="1"/>
            <a:endParaRPr lang="de-CH" dirty="0"/>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2766854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Exporter toutes les parcelles voisines de la parcelle de l’église en format shapefile en ne conservant que le numéro de parcelle </a:t>
            </a:r>
          </a:p>
          <a:p>
            <a:endParaRPr lang="fr-FR" dirty="0"/>
          </a:p>
          <a:p>
            <a:endParaRPr lang="fr-FR" dirty="0"/>
          </a:p>
        </p:txBody>
      </p:sp>
    </p:spTree>
    <p:extLst>
      <p:ext uri="{BB962C8B-B14F-4D97-AF65-F5344CB8AC3E}">
        <p14:creationId xmlns:p14="http://schemas.microsoft.com/office/powerpoint/2010/main" val="10227264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94013" y="1294292"/>
            <a:ext cx="10765809" cy="4351338"/>
          </a:xfrm>
        </p:spPr>
        <p:txBody>
          <a:bodyPr/>
          <a:lstStyle/>
          <a:p>
            <a:r>
              <a:rPr lang="de-CH" b="1" dirty="0" err="1"/>
              <a:t>Mises</a:t>
            </a:r>
            <a:r>
              <a:rPr lang="de-CH" b="1" dirty="0"/>
              <a:t> en </a:t>
            </a:r>
            <a:r>
              <a:rPr lang="de-CH" b="1" dirty="0" err="1"/>
              <a:t>page</a:t>
            </a:r>
            <a:endParaRPr lang="de-CH" b="1" dirty="0"/>
          </a:p>
          <a:p>
            <a:pPr lvl="1"/>
            <a:r>
              <a:rPr lang="de-CH" dirty="0" err="1"/>
              <a:t>Gestionnaire</a:t>
            </a:r>
            <a:r>
              <a:rPr lang="de-CH" dirty="0"/>
              <a:t> de </a:t>
            </a:r>
            <a:r>
              <a:rPr lang="de-CH" dirty="0" err="1"/>
              <a:t>mises</a:t>
            </a:r>
            <a:r>
              <a:rPr lang="de-CH" dirty="0"/>
              <a:t> en </a:t>
            </a:r>
            <a:r>
              <a:rPr lang="de-CH" dirty="0" err="1"/>
              <a:t>page</a:t>
            </a:r>
            <a:endParaRPr lang="de-CH" dirty="0"/>
          </a:p>
          <a:p>
            <a:pPr lvl="2"/>
            <a:r>
              <a:rPr lang="de-CH" dirty="0" err="1"/>
              <a:t>Configuration</a:t>
            </a:r>
            <a:r>
              <a:rPr lang="de-CH" dirty="0"/>
              <a:t> des </a:t>
            </a:r>
            <a:r>
              <a:rPr lang="de-CH" dirty="0" err="1"/>
              <a:t>modèles</a:t>
            </a:r>
            <a:endParaRPr lang="de-CH" dirty="0"/>
          </a:p>
          <a:p>
            <a:pPr lvl="3"/>
            <a:r>
              <a:rPr lang="de-CH" dirty="0" err="1"/>
              <a:t>Ouvrir</a:t>
            </a:r>
            <a:r>
              <a:rPr lang="de-CH" dirty="0"/>
              <a:t> le dossier du </a:t>
            </a:r>
            <a:r>
              <a:rPr lang="de-CH" dirty="0" err="1"/>
              <a:t>modèle</a:t>
            </a:r>
            <a:r>
              <a:rPr lang="de-CH" dirty="0"/>
              <a:t> </a:t>
            </a:r>
            <a:r>
              <a:rPr lang="de-CH" dirty="0" err="1"/>
              <a:t>Utilisateur</a:t>
            </a:r>
            <a:endParaRPr lang="de-CH" dirty="0"/>
          </a:p>
          <a:p>
            <a:pPr lvl="3"/>
            <a:r>
              <a:rPr lang="de-CH" dirty="0" err="1"/>
              <a:t>Copier</a:t>
            </a:r>
            <a:r>
              <a:rPr lang="de-CH" dirty="0"/>
              <a:t> – </a:t>
            </a:r>
            <a:r>
              <a:rPr lang="de-CH" dirty="0" err="1"/>
              <a:t>coller</a:t>
            </a:r>
            <a:r>
              <a:rPr lang="de-CH" dirty="0"/>
              <a:t> </a:t>
            </a:r>
            <a:r>
              <a:rPr lang="de-CH" dirty="0" err="1"/>
              <a:t>les</a:t>
            </a:r>
            <a:r>
              <a:rPr lang="de-CH" dirty="0"/>
              <a:t> </a:t>
            </a:r>
            <a:r>
              <a:rPr lang="de-CH" dirty="0" err="1"/>
              <a:t>modèles</a:t>
            </a:r>
            <a:r>
              <a:rPr lang="de-CH" dirty="0"/>
              <a:t> du dossier «</a:t>
            </a:r>
            <a:r>
              <a:rPr lang="de-CH" dirty="0" err="1"/>
              <a:t>mises_en_page</a:t>
            </a:r>
            <a:r>
              <a:rPr lang="de-CH" dirty="0"/>
              <a:t>»</a:t>
            </a:r>
          </a:p>
          <a:p>
            <a:pPr lvl="2"/>
            <a:r>
              <a:rPr lang="de-CH" dirty="0" err="1"/>
              <a:t>Ouvrir</a:t>
            </a:r>
            <a:r>
              <a:rPr lang="de-CH" dirty="0"/>
              <a:t> </a:t>
            </a:r>
            <a:r>
              <a:rPr lang="de-CH" dirty="0" err="1"/>
              <a:t>mise</a:t>
            </a:r>
            <a:r>
              <a:rPr lang="de-CH" dirty="0"/>
              <a:t> en </a:t>
            </a:r>
            <a:r>
              <a:rPr lang="de-CH" dirty="0" err="1"/>
              <a:t>page</a:t>
            </a:r>
            <a:r>
              <a:rPr lang="de-CH" dirty="0"/>
              <a:t> A4 </a:t>
            </a:r>
            <a:r>
              <a:rPr lang="de-CH" dirty="0" err="1"/>
              <a:t>paysage</a:t>
            </a:r>
            <a:endParaRPr lang="de-CH" dirty="0"/>
          </a:p>
          <a:p>
            <a:pPr lvl="1"/>
            <a:r>
              <a:rPr lang="de-CH" dirty="0" err="1"/>
              <a:t>Outils</a:t>
            </a:r>
            <a:r>
              <a:rPr lang="de-CH" dirty="0"/>
              <a:t>:</a:t>
            </a:r>
          </a:p>
          <a:p>
            <a:pPr lvl="2"/>
            <a:r>
              <a:rPr lang="de-CH" dirty="0"/>
              <a:t>Pour </a:t>
            </a:r>
            <a:r>
              <a:rPr lang="de-CH" dirty="0" err="1"/>
              <a:t>sélectionner</a:t>
            </a:r>
            <a:r>
              <a:rPr lang="de-CH" dirty="0"/>
              <a:t> et </a:t>
            </a:r>
            <a:r>
              <a:rPr lang="de-CH" dirty="0" err="1"/>
              <a:t>déplacer</a:t>
            </a:r>
            <a:r>
              <a:rPr lang="de-CH" dirty="0"/>
              <a:t> </a:t>
            </a:r>
            <a:r>
              <a:rPr lang="de-CH" dirty="0" err="1"/>
              <a:t>les</a:t>
            </a:r>
            <a:r>
              <a:rPr lang="de-CH" dirty="0"/>
              <a:t> </a:t>
            </a:r>
            <a:r>
              <a:rPr lang="de-CH" dirty="0" err="1"/>
              <a:t>objets</a:t>
            </a:r>
            <a:r>
              <a:rPr lang="de-CH" dirty="0"/>
              <a:t> de la </a:t>
            </a:r>
            <a:r>
              <a:rPr lang="de-CH" dirty="0" err="1"/>
              <a:t>mise</a:t>
            </a:r>
            <a:r>
              <a:rPr lang="de-CH" dirty="0"/>
              <a:t> en </a:t>
            </a:r>
            <a:r>
              <a:rPr lang="de-CH" dirty="0" err="1"/>
              <a:t>page</a:t>
            </a:r>
            <a:endParaRPr lang="de-CH" dirty="0"/>
          </a:p>
          <a:p>
            <a:pPr lvl="2"/>
            <a:r>
              <a:rPr lang="de-CH" dirty="0"/>
              <a:t>Pour </a:t>
            </a:r>
            <a:r>
              <a:rPr lang="de-CH" dirty="0" err="1"/>
              <a:t>bouger</a:t>
            </a:r>
            <a:r>
              <a:rPr lang="de-CH" dirty="0"/>
              <a:t> </a:t>
            </a:r>
            <a:r>
              <a:rPr lang="de-CH" dirty="0" err="1"/>
              <a:t>dans</a:t>
            </a:r>
            <a:r>
              <a:rPr lang="de-CH" dirty="0"/>
              <a:t> la carte</a:t>
            </a:r>
          </a:p>
          <a:p>
            <a:pPr lvl="2"/>
            <a:r>
              <a:rPr lang="de-CH" dirty="0"/>
              <a:t>Pour </a:t>
            </a:r>
            <a:r>
              <a:rPr lang="de-CH" dirty="0" err="1"/>
              <a:t>imprimer</a:t>
            </a:r>
            <a:r>
              <a:rPr lang="de-CH" dirty="0"/>
              <a:t> en PDF</a:t>
            </a:r>
          </a:p>
          <a:p>
            <a:pPr lvl="2"/>
            <a:endParaRPr lang="de-CH" dirty="0"/>
          </a:p>
          <a:p>
            <a:pPr lvl="1"/>
            <a:endParaRPr lang="de-CH" dirty="0"/>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A1B8BEFD-AAD7-C6BA-5182-27443264B0FE}"/>
              </a:ext>
            </a:extLst>
          </p:cNvPr>
          <p:cNvPicPr>
            <a:picLocks noChangeAspect="1"/>
          </p:cNvPicPr>
          <p:nvPr/>
        </p:nvPicPr>
        <p:blipFill>
          <a:blip r:embed="rId4"/>
          <a:stretch>
            <a:fillRect/>
          </a:stretch>
        </p:blipFill>
        <p:spPr>
          <a:xfrm>
            <a:off x="408632" y="1630726"/>
            <a:ext cx="606376" cy="606376"/>
          </a:xfrm>
          <a:prstGeom prst="rect">
            <a:avLst/>
          </a:prstGeom>
        </p:spPr>
      </p:pic>
      <p:pic>
        <p:nvPicPr>
          <p:cNvPr id="8" name="Image 7">
            <a:extLst>
              <a:ext uri="{FF2B5EF4-FFF2-40B4-BE49-F238E27FC236}">
                <a16:creationId xmlns:a16="http://schemas.microsoft.com/office/drawing/2014/main" id="{E06E9C7C-48FE-B466-F03E-45CB0EB7833A}"/>
              </a:ext>
            </a:extLst>
          </p:cNvPr>
          <p:cNvPicPr>
            <a:picLocks noChangeAspect="1"/>
          </p:cNvPicPr>
          <p:nvPr/>
        </p:nvPicPr>
        <p:blipFill>
          <a:blip r:embed="rId5"/>
          <a:stretch>
            <a:fillRect/>
          </a:stretch>
        </p:blipFill>
        <p:spPr>
          <a:xfrm>
            <a:off x="497646" y="3688582"/>
            <a:ext cx="606376" cy="517203"/>
          </a:xfrm>
          <a:prstGeom prst="rect">
            <a:avLst/>
          </a:prstGeom>
        </p:spPr>
      </p:pic>
      <p:pic>
        <p:nvPicPr>
          <p:cNvPr id="10" name="Image 9">
            <a:extLst>
              <a:ext uri="{FF2B5EF4-FFF2-40B4-BE49-F238E27FC236}">
                <a16:creationId xmlns:a16="http://schemas.microsoft.com/office/drawing/2014/main" id="{1A3F82C3-4582-60ED-21B6-BED04B5EF6FF}"/>
              </a:ext>
            </a:extLst>
          </p:cNvPr>
          <p:cNvPicPr>
            <a:picLocks noChangeAspect="1"/>
          </p:cNvPicPr>
          <p:nvPr/>
        </p:nvPicPr>
        <p:blipFill>
          <a:blip r:embed="rId6"/>
          <a:stretch>
            <a:fillRect/>
          </a:stretch>
        </p:blipFill>
        <p:spPr>
          <a:xfrm>
            <a:off x="497645" y="4263815"/>
            <a:ext cx="612345" cy="575233"/>
          </a:xfrm>
          <a:prstGeom prst="rect">
            <a:avLst/>
          </a:prstGeom>
        </p:spPr>
      </p:pic>
      <p:pic>
        <p:nvPicPr>
          <p:cNvPr id="12" name="Image 11">
            <a:extLst>
              <a:ext uri="{FF2B5EF4-FFF2-40B4-BE49-F238E27FC236}">
                <a16:creationId xmlns:a16="http://schemas.microsoft.com/office/drawing/2014/main" id="{05B4A6DF-0F22-12A3-1D3E-0E5BC36704EE}"/>
              </a:ext>
            </a:extLst>
          </p:cNvPr>
          <p:cNvPicPr>
            <a:picLocks noChangeAspect="1"/>
          </p:cNvPicPr>
          <p:nvPr/>
        </p:nvPicPr>
        <p:blipFill>
          <a:blip r:embed="rId7"/>
          <a:stretch>
            <a:fillRect/>
          </a:stretch>
        </p:blipFill>
        <p:spPr>
          <a:xfrm>
            <a:off x="497646" y="4849322"/>
            <a:ext cx="606376" cy="540822"/>
          </a:xfrm>
          <a:prstGeom prst="rect">
            <a:avLst/>
          </a:prstGeom>
        </p:spPr>
      </p:pic>
    </p:spTree>
    <p:extLst>
      <p:ext uri="{BB962C8B-B14F-4D97-AF65-F5344CB8AC3E}">
        <p14:creationId xmlns:p14="http://schemas.microsoft.com/office/powerpoint/2010/main" val="14624267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dirty="0"/>
              <a:t>Faire une carte A3 des rivières</a:t>
            </a:r>
          </a:p>
          <a:p>
            <a:r>
              <a:rPr lang="fr-FR" dirty="0"/>
              <a:t>Afficher le contour des communes, les noms de lieux et les rivières</a:t>
            </a:r>
          </a:p>
          <a:p>
            <a:r>
              <a:rPr lang="fr-FR" dirty="0"/>
              <a:t>Ajouter une échelle</a:t>
            </a:r>
          </a:p>
          <a:p>
            <a:r>
              <a:rPr lang="fr-FR" dirty="0"/>
              <a:t>Ajouter la légende, seule la légende du contour des commune et des rivières doit apparaitre</a:t>
            </a:r>
          </a:p>
          <a:p>
            <a:r>
              <a:rPr lang="fr-FR" dirty="0"/>
              <a:t>Modifier l’auteur, le titre et la date</a:t>
            </a:r>
          </a:p>
          <a:p>
            <a:r>
              <a:rPr lang="fr-FR" dirty="0"/>
              <a:t>Ajouter le logo de la commune</a:t>
            </a:r>
          </a:p>
          <a:p>
            <a:r>
              <a:rPr lang="fr-FR" dirty="0"/>
              <a:t>Mettre en évidence une rivière avec une flèche</a:t>
            </a:r>
          </a:p>
          <a:p>
            <a:endParaRPr lang="fr-FR" dirty="0"/>
          </a:p>
          <a:p>
            <a:endParaRPr lang="fr-FR" dirty="0"/>
          </a:p>
          <a:p>
            <a:endParaRPr lang="fr-FR" dirty="0"/>
          </a:p>
        </p:txBody>
      </p:sp>
    </p:spTree>
    <p:extLst>
      <p:ext uri="{BB962C8B-B14F-4D97-AF65-F5344CB8AC3E}">
        <p14:creationId xmlns:p14="http://schemas.microsoft.com/office/powerpoint/2010/main" val="3397810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83738" y="1253294"/>
            <a:ext cx="10765809" cy="4351338"/>
          </a:xfrm>
        </p:spPr>
        <p:txBody>
          <a:bodyPr/>
          <a:lstStyle/>
          <a:p>
            <a:r>
              <a:rPr lang="de-CH" b="1" dirty="0"/>
              <a:t>Création </a:t>
            </a:r>
            <a:r>
              <a:rPr lang="de-CH" b="1" dirty="0" err="1"/>
              <a:t>d’une</a:t>
            </a:r>
            <a:r>
              <a:rPr lang="de-CH" b="1" dirty="0"/>
              <a:t> </a:t>
            </a:r>
            <a:r>
              <a:rPr lang="de-CH" b="1" dirty="0" err="1"/>
              <a:t>couche</a:t>
            </a:r>
            <a:endParaRPr lang="de-CH" b="1" dirty="0"/>
          </a:p>
          <a:p>
            <a:pPr lvl="1"/>
            <a:r>
              <a:rPr lang="de-CH" dirty="0"/>
              <a:t>Nouvelle </a:t>
            </a:r>
            <a:r>
              <a:rPr lang="de-CH" dirty="0" err="1"/>
              <a:t>couche</a:t>
            </a:r>
            <a:r>
              <a:rPr lang="de-CH" dirty="0"/>
              <a:t> geopackage (</a:t>
            </a:r>
            <a:r>
              <a:rPr lang="de-CH" dirty="0" err="1"/>
              <a:t>ou</a:t>
            </a:r>
            <a:r>
              <a:rPr lang="de-CH" dirty="0"/>
              <a:t> </a:t>
            </a:r>
            <a:r>
              <a:rPr lang="de-CH" dirty="0" err="1"/>
              <a:t>shapefile</a:t>
            </a:r>
            <a:r>
              <a:rPr lang="de-CH" dirty="0"/>
              <a:t>)</a:t>
            </a:r>
          </a:p>
          <a:p>
            <a:pPr lvl="1"/>
            <a:endParaRPr lang="de-CH" dirty="0"/>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15" name="Image 14">
            <a:extLst>
              <a:ext uri="{FF2B5EF4-FFF2-40B4-BE49-F238E27FC236}">
                <a16:creationId xmlns:a16="http://schemas.microsoft.com/office/drawing/2014/main" id="{DF23856B-C99F-284D-F09D-484B292E50B1}"/>
              </a:ext>
            </a:extLst>
          </p:cNvPr>
          <p:cNvPicPr>
            <a:picLocks noChangeAspect="1"/>
          </p:cNvPicPr>
          <p:nvPr/>
        </p:nvPicPr>
        <p:blipFill>
          <a:blip r:embed="rId4"/>
          <a:stretch>
            <a:fillRect/>
          </a:stretch>
        </p:blipFill>
        <p:spPr>
          <a:xfrm>
            <a:off x="307299" y="1700738"/>
            <a:ext cx="404521" cy="372585"/>
          </a:xfrm>
          <a:prstGeom prst="rect">
            <a:avLst/>
          </a:prstGeom>
        </p:spPr>
      </p:pic>
      <p:pic>
        <p:nvPicPr>
          <p:cNvPr id="17" name="Image 16">
            <a:extLst>
              <a:ext uri="{FF2B5EF4-FFF2-40B4-BE49-F238E27FC236}">
                <a16:creationId xmlns:a16="http://schemas.microsoft.com/office/drawing/2014/main" id="{EA848603-40D5-B441-9112-65EE61A797B1}"/>
              </a:ext>
            </a:extLst>
          </p:cNvPr>
          <p:cNvPicPr>
            <a:picLocks noChangeAspect="1"/>
          </p:cNvPicPr>
          <p:nvPr/>
        </p:nvPicPr>
        <p:blipFill>
          <a:blip r:embed="rId5"/>
          <a:stretch>
            <a:fillRect/>
          </a:stretch>
        </p:blipFill>
        <p:spPr>
          <a:xfrm>
            <a:off x="3272480" y="2288350"/>
            <a:ext cx="5871521" cy="3864799"/>
          </a:xfrm>
          <a:prstGeom prst="rect">
            <a:avLst/>
          </a:prstGeom>
        </p:spPr>
      </p:pic>
    </p:spTree>
    <p:extLst>
      <p:ext uri="{BB962C8B-B14F-4D97-AF65-F5344CB8AC3E}">
        <p14:creationId xmlns:p14="http://schemas.microsoft.com/office/powerpoint/2010/main" val="1737586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sz="2400" dirty="0"/>
              <a:t>Créer un projet pour faire le suivi de </a:t>
            </a:r>
            <a:r>
              <a:rPr lang="fr-FR" sz="2400" dirty="0" err="1"/>
              <a:t>dégats</a:t>
            </a:r>
            <a:r>
              <a:rPr lang="fr-FR" sz="2400" dirty="0"/>
              <a:t> constatés sur le domaine public</a:t>
            </a:r>
          </a:p>
          <a:p>
            <a:r>
              <a:rPr lang="fr-FR" sz="2400" dirty="0"/>
              <a:t>Créer un nouveau projet</a:t>
            </a:r>
          </a:p>
          <a:p>
            <a:r>
              <a:rPr lang="fr-FR" sz="2400" dirty="0"/>
              <a:t>Ajouter </a:t>
            </a:r>
            <a:r>
              <a:rPr lang="fr-FR" sz="2400" dirty="0" err="1"/>
              <a:t>swissimage</a:t>
            </a:r>
            <a:r>
              <a:rPr lang="fr-FR" sz="2400" dirty="0"/>
              <a:t> en fond de plan</a:t>
            </a:r>
          </a:p>
          <a:p>
            <a:r>
              <a:rPr lang="fr-FR" sz="2400" dirty="0"/>
              <a:t>Ajouter le parcellaire</a:t>
            </a:r>
          </a:p>
          <a:p>
            <a:r>
              <a:rPr lang="fr-FR" sz="2400" dirty="0"/>
              <a:t>Créer une nouvelle couche ponctuelle (</a:t>
            </a:r>
            <a:r>
              <a:rPr lang="fr-FR" sz="2400" dirty="0" err="1"/>
              <a:t>geopackage</a:t>
            </a:r>
            <a:r>
              <a:rPr lang="fr-FR" sz="2400" dirty="0"/>
              <a:t>) avec les attributs:</a:t>
            </a:r>
          </a:p>
          <a:p>
            <a:pPr lvl="1"/>
            <a:r>
              <a:rPr lang="fr-FR" sz="2000" dirty="0" err="1"/>
              <a:t>type_degat</a:t>
            </a:r>
            <a:r>
              <a:rPr lang="fr-FR" sz="2000" dirty="0"/>
              <a:t> (texte): [Nid de poule, fuite, tag, éclairage défaillant, autre]</a:t>
            </a:r>
          </a:p>
          <a:p>
            <a:pPr lvl="1"/>
            <a:r>
              <a:rPr lang="fr-FR" sz="2000" dirty="0" err="1"/>
              <a:t>Observe_par</a:t>
            </a:r>
            <a:r>
              <a:rPr lang="fr-FR" sz="2000" dirty="0"/>
              <a:t> (texte)</a:t>
            </a:r>
          </a:p>
          <a:p>
            <a:pPr lvl="1"/>
            <a:r>
              <a:rPr lang="fr-FR" sz="2000" dirty="0"/>
              <a:t>Fixe (booléen): Vrai, Faux</a:t>
            </a:r>
          </a:p>
          <a:p>
            <a:pPr lvl="1"/>
            <a:r>
              <a:rPr lang="fr-FR" sz="2000" dirty="0"/>
              <a:t>Fixe par (texte)</a:t>
            </a:r>
          </a:p>
          <a:p>
            <a:r>
              <a:rPr lang="fr-FR" sz="2400" dirty="0"/>
              <a:t>Ajouter des </a:t>
            </a:r>
            <a:r>
              <a:rPr lang="fr-FR" sz="2400" dirty="0" err="1"/>
              <a:t>dégats</a:t>
            </a:r>
            <a:endParaRPr lang="fr-FR" sz="2400" dirty="0"/>
          </a:p>
          <a:p>
            <a:endParaRPr lang="fr-FR" dirty="0"/>
          </a:p>
          <a:p>
            <a:pPr marL="0" indent="0">
              <a:buNone/>
            </a:pPr>
            <a:endParaRPr lang="fr-FR" dirty="0"/>
          </a:p>
          <a:p>
            <a:endParaRPr lang="fr-FR" dirty="0"/>
          </a:p>
        </p:txBody>
      </p:sp>
    </p:spTree>
    <p:extLst>
      <p:ext uri="{BB962C8B-B14F-4D97-AF65-F5344CB8AC3E}">
        <p14:creationId xmlns:p14="http://schemas.microsoft.com/office/powerpoint/2010/main" val="41109160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83738" y="1253294"/>
            <a:ext cx="10765809" cy="4351338"/>
          </a:xfrm>
        </p:spPr>
        <p:txBody>
          <a:bodyPr/>
          <a:lstStyle/>
          <a:p>
            <a:r>
              <a:rPr lang="de-CH" b="1" dirty="0" err="1"/>
              <a:t>Formulaires</a:t>
            </a:r>
            <a:endParaRPr lang="de-CH" b="1" dirty="0"/>
          </a:p>
          <a:p>
            <a:pPr lvl="1"/>
            <a:r>
              <a:rPr lang="de-CH" dirty="0" err="1"/>
              <a:t>Clic</a:t>
            </a:r>
            <a:r>
              <a:rPr lang="de-CH" dirty="0"/>
              <a:t> </a:t>
            </a:r>
            <a:r>
              <a:rPr lang="de-CH" dirty="0" err="1"/>
              <a:t>droit</a:t>
            </a:r>
            <a:r>
              <a:rPr lang="de-CH" dirty="0"/>
              <a:t> </a:t>
            </a:r>
            <a:r>
              <a:rPr lang="de-CH" dirty="0" err="1"/>
              <a:t>sur</a:t>
            </a:r>
            <a:r>
              <a:rPr lang="de-CH" dirty="0"/>
              <a:t> la </a:t>
            </a:r>
            <a:r>
              <a:rPr lang="de-CH" dirty="0" err="1"/>
              <a:t>couche</a:t>
            </a:r>
            <a:r>
              <a:rPr lang="de-CH" dirty="0"/>
              <a:t> &gt; </a:t>
            </a:r>
            <a:r>
              <a:rPr lang="de-CH" dirty="0" err="1"/>
              <a:t>Propriété</a:t>
            </a:r>
            <a:r>
              <a:rPr lang="de-CH" dirty="0"/>
              <a:t> &gt; </a:t>
            </a:r>
            <a:r>
              <a:rPr lang="de-CH" dirty="0" err="1"/>
              <a:t>Formulaire</a:t>
            </a:r>
            <a:r>
              <a:rPr lang="de-CH" dirty="0"/>
              <a:t> </a:t>
            </a:r>
            <a:r>
              <a:rPr lang="de-CH" dirty="0" err="1"/>
              <a:t>d’attribut</a:t>
            </a:r>
            <a:r>
              <a:rPr lang="de-CH" dirty="0"/>
              <a:t> &gt; </a:t>
            </a:r>
            <a:r>
              <a:rPr lang="de-CH" dirty="0" err="1"/>
              <a:t>Conception</a:t>
            </a:r>
            <a:r>
              <a:rPr lang="de-CH" dirty="0"/>
              <a:t> par </a:t>
            </a:r>
            <a:r>
              <a:rPr lang="de-CH" dirty="0" err="1"/>
              <a:t>glisser</a:t>
            </a:r>
            <a:r>
              <a:rPr lang="de-CH" dirty="0"/>
              <a:t> - </a:t>
            </a:r>
            <a:r>
              <a:rPr lang="de-CH" dirty="0" err="1"/>
              <a:t>déposer</a:t>
            </a:r>
            <a:endParaRPr lang="de-CH" dirty="0"/>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2257118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sz="2400" dirty="0"/>
              <a:t>Configurer le formulaire de la couche </a:t>
            </a:r>
            <a:r>
              <a:rPr lang="fr-FR" sz="2400" dirty="0" err="1"/>
              <a:t>dégat</a:t>
            </a:r>
            <a:endParaRPr lang="fr-FR" sz="2400" dirty="0"/>
          </a:p>
          <a:p>
            <a:endParaRPr lang="fr-FR" dirty="0"/>
          </a:p>
          <a:p>
            <a:pPr marL="0" indent="0">
              <a:buNone/>
            </a:pPr>
            <a:endParaRPr lang="fr-FR" dirty="0"/>
          </a:p>
          <a:p>
            <a:endParaRPr lang="fr-FR" dirty="0"/>
          </a:p>
        </p:txBody>
      </p:sp>
    </p:spTree>
    <p:extLst>
      <p:ext uri="{BB962C8B-B14F-4D97-AF65-F5344CB8AC3E}">
        <p14:creationId xmlns:p14="http://schemas.microsoft.com/office/powerpoint/2010/main" val="2851648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83738" y="1253294"/>
            <a:ext cx="10765809" cy="4351338"/>
          </a:xfrm>
        </p:spPr>
        <p:txBody>
          <a:bodyPr/>
          <a:lstStyle/>
          <a:p>
            <a:r>
              <a:rPr lang="de-CH" b="1" dirty="0"/>
              <a:t>Signets</a:t>
            </a:r>
          </a:p>
          <a:p>
            <a:pPr lvl="1"/>
            <a:r>
              <a:rPr lang="de-CH" dirty="0"/>
              <a:t>Zoom </a:t>
            </a:r>
            <a:r>
              <a:rPr lang="de-CH" dirty="0" err="1"/>
              <a:t>prédéfinis</a:t>
            </a:r>
            <a:r>
              <a:rPr lang="de-CH" dirty="0"/>
              <a:t> </a:t>
            </a:r>
            <a:r>
              <a:rPr lang="de-CH" dirty="0" err="1"/>
              <a:t>sur</a:t>
            </a:r>
            <a:r>
              <a:rPr lang="de-CH" dirty="0"/>
              <a:t> des </a:t>
            </a:r>
            <a:r>
              <a:rPr lang="de-CH" dirty="0" err="1"/>
              <a:t>lieux</a:t>
            </a:r>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12" name="Image 11">
            <a:extLst>
              <a:ext uri="{FF2B5EF4-FFF2-40B4-BE49-F238E27FC236}">
                <a16:creationId xmlns:a16="http://schemas.microsoft.com/office/drawing/2014/main" id="{B6F141B9-98E0-5282-CD88-B566D4A26191}"/>
              </a:ext>
            </a:extLst>
          </p:cNvPr>
          <p:cNvPicPr>
            <a:picLocks noChangeAspect="1"/>
          </p:cNvPicPr>
          <p:nvPr/>
        </p:nvPicPr>
        <p:blipFill>
          <a:blip r:embed="rId4"/>
          <a:stretch>
            <a:fillRect/>
          </a:stretch>
        </p:blipFill>
        <p:spPr>
          <a:xfrm>
            <a:off x="788731" y="1738018"/>
            <a:ext cx="381000" cy="371475"/>
          </a:xfrm>
          <a:prstGeom prst="rect">
            <a:avLst/>
          </a:prstGeom>
        </p:spPr>
      </p:pic>
    </p:spTree>
    <p:extLst>
      <p:ext uri="{BB962C8B-B14F-4D97-AF65-F5344CB8AC3E}">
        <p14:creationId xmlns:p14="http://schemas.microsoft.com/office/powerpoint/2010/main" val="1675511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9035692"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sz="2400" dirty="0"/>
              <a:t>Signet « Valais » sur l’étendue de la couche des communes</a:t>
            </a:r>
          </a:p>
          <a:p>
            <a:r>
              <a:rPr lang="fr-FR" sz="2400" dirty="0"/>
              <a:t>Signet « Ardon » sur l’étendue du canevas actuel</a:t>
            </a:r>
          </a:p>
          <a:p>
            <a:endParaRPr lang="fr-FR" dirty="0"/>
          </a:p>
          <a:p>
            <a:pPr marL="0" indent="0">
              <a:buNone/>
            </a:pPr>
            <a:endParaRPr lang="fr-FR" dirty="0"/>
          </a:p>
          <a:p>
            <a:endParaRPr lang="fr-FR" dirty="0"/>
          </a:p>
        </p:txBody>
      </p:sp>
    </p:spTree>
    <p:extLst>
      <p:ext uri="{BB962C8B-B14F-4D97-AF65-F5344CB8AC3E}">
        <p14:creationId xmlns:p14="http://schemas.microsoft.com/office/powerpoint/2010/main" val="3079355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1951357" y="1253331"/>
            <a:ext cx="10765809" cy="4351338"/>
          </a:xfrm>
        </p:spPr>
        <p:txBody>
          <a:bodyPr/>
          <a:lstStyle/>
          <a:p>
            <a:r>
              <a:rPr lang="de-CH" b="1" dirty="0"/>
              <a:t>3D</a:t>
            </a:r>
          </a:p>
          <a:p>
            <a:pPr lvl="1"/>
            <a:r>
              <a:rPr lang="de-CH" dirty="0"/>
              <a:t>Charger le </a:t>
            </a:r>
            <a:r>
              <a:rPr lang="de-CH" dirty="0" err="1"/>
              <a:t>nuage</a:t>
            </a:r>
            <a:r>
              <a:rPr lang="de-CH" dirty="0"/>
              <a:t> de </a:t>
            </a:r>
            <a:r>
              <a:rPr lang="de-CH" dirty="0" err="1"/>
              <a:t>point</a:t>
            </a:r>
            <a:r>
              <a:rPr lang="de-CH" dirty="0"/>
              <a:t> </a:t>
            </a:r>
            <a:r>
              <a:rPr lang="de-CH" dirty="0" err="1"/>
              <a:t>fouille</a:t>
            </a:r>
            <a:endParaRPr lang="de-CH" dirty="0"/>
          </a:p>
          <a:p>
            <a:pPr lvl="1"/>
            <a:r>
              <a:rPr lang="de-CH" dirty="0"/>
              <a:t>Charger MNT25</a:t>
            </a:r>
          </a:p>
          <a:p>
            <a:pPr lvl="1"/>
            <a:r>
              <a:rPr lang="de-CH" dirty="0"/>
              <a:t>Charger </a:t>
            </a:r>
            <a:r>
              <a:rPr lang="de-CH" dirty="0" err="1"/>
              <a:t>swissimage</a:t>
            </a:r>
            <a:endParaRPr lang="de-CH" dirty="0"/>
          </a:p>
          <a:p>
            <a:pPr lvl="1"/>
            <a:r>
              <a:rPr lang="de-CH" dirty="0" err="1"/>
              <a:t>Profiles</a:t>
            </a:r>
            <a:endParaRPr lang="de-CH" dirty="0"/>
          </a:p>
          <a:p>
            <a:pPr lvl="2"/>
            <a:r>
              <a:rPr lang="de-CH" dirty="0"/>
              <a:t>Vue &gt; Profile </a:t>
            </a:r>
            <a:r>
              <a:rPr lang="de-CH" dirty="0" err="1"/>
              <a:t>d’élévation</a:t>
            </a:r>
            <a:endParaRPr lang="de-CH" dirty="0"/>
          </a:p>
          <a:p>
            <a:pPr lvl="1"/>
            <a:r>
              <a:rPr lang="de-CH" dirty="0"/>
              <a:t>Vue 3D</a:t>
            </a:r>
          </a:p>
          <a:p>
            <a:pPr lvl="2"/>
            <a:r>
              <a:rPr lang="de-CH" dirty="0" err="1"/>
              <a:t>Configuration</a:t>
            </a:r>
            <a:r>
              <a:rPr lang="de-CH" dirty="0"/>
              <a:t> &gt; MNT</a:t>
            </a:r>
          </a:p>
          <a:p>
            <a:pPr lvl="1"/>
            <a:endParaRPr lang="de-CH" dirty="0"/>
          </a:p>
          <a:p>
            <a:pPr lvl="2"/>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pic>
        <p:nvPicPr>
          <p:cNvPr id="6" name="Image 5">
            <a:extLst>
              <a:ext uri="{FF2B5EF4-FFF2-40B4-BE49-F238E27FC236}">
                <a16:creationId xmlns:a16="http://schemas.microsoft.com/office/drawing/2014/main" id="{DBB6F83B-F711-D3F5-E78F-DD4D6DB9C93F}"/>
              </a:ext>
            </a:extLst>
          </p:cNvPr>
          <p:cNvPicPr>
            <a:picLocks noChangeAspect="1"/>
          </p:cNvPicPr>
          <p:nvPr/>
        </p:nvPicPr>
        <p:blipFill>
          <a:blip r:embed="rId4"/>
          <a:stretch>
            <a:fillRect/>
          </a:stretch>
        </p:blipFill>
        <p:spPr>
          <a:xfrm>
            <a:off x="339265" y="3559004"/>
            <a:ext cx="606375" cy="555844"/>
          </a:xfrm>
          <a:prstGeom prst="rect">
            <a:avLst/>
          </a:prstGeom>
        </p:spPr>
      </p:pic>
      <p:pic>
        <p:nvPicPr>
          <p:cNvPr id="8" name="Image 7">
            <a:extLst>
              <a:ext uri="{FF2B5EF4-FFF2-40B4-BE49-F238E27FC236}">
                <a16:creationId xmlns:a16="http://schemas.microsoft.com/office/drawing/2014/main" id="{2B88C8F2-C9A7-A3DE-55F1-9B2F6C22EFA9}"/>
              </a:ext>
            </a:extLst>
          </p:cNvPr>
          <p:cNvPicPr>
            <a:picLocks noChangeAspect="1"/>
          </p:cNvPicPr>
          <p:nvPr/>
        </p:nvPicPr>
        <p:blipFill>
          <a:blip r:embed="rId5"/>
          <a:stretch>
            <a:fillRect/>
          </a:stretch>
        </p:blipFill>
        <p:spPr>
          <a:xfrm>
            <a:off x="339265" y="2894349"/>
            <a:ext cx="1916044" cy="392261"/>
          </a:xfrm>
          <a:prstGeom prst="rect">
            <a:avLst/>
          </a:prstGeom>
        </p:spPr>
      </p:pic>
    </p:spTree>
    <p:extLst>
      <p:ext uri="{BB962C8B-B14F-4D97-AF65-F5344CB8AC3E}">
        <p14:creationId xmlns:p14="http://schemas.microsoft.com/office/powerpoint/2010/main" val="25582551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descr="Écran avec un remplissage uni">
            <a:extLst>
              <a:ext uri="{FF2B5EF4-FFF2-40B4-BE49-F238E27FC236}">
                <a16:creationId xmlns:a16="http://schemas.microsoft.com/office/drawing/2014/main" id="{E691D553-B733-33A9-3EEE-2C2C161262A3}"/>
              </a:ext>
            </a:extLst>
          </p:cNvPr>
          <p:cNvPicPr>
            <a:picLocks noGrp="1" noChangeAspect="1"/>
          </p:cNvPicPr>
          <p:nvPr>
            <p:ph idx="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8274" y="773194"/>
            <a:ext cx="914400" cy="914400"/>
          </a:xfrm>
        </p:spPr>
      </p:pic>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5"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
        <p:nvSpPr>
          <p:cNvPr id="7" name="Espace réservé du contenu 1">
            <a:extLst>
              <a:ext uri="{FF2B5EF4-FFF2-40B4-BE49-F238E27FC236}">
                <a16:creationId xmlns:a16="http://schemas.microsoft.com/office/drawing/2014/main" id="{C4A1A181-D2DB-27FD-42BF-95EB8EA0E435}"/>
              </a:ext>
            </a:extLst>
          </p:cNvPr>
          <p:cNvSpPr txBox="1">
            <a:spLocks/>
          </p:cNvSpPr>
          <p:nvPr/>
        </p:nvSpPr>
        <p:spPr>
          <a:xfrm>
            <a:off x="2080946" y="857453"/>
            <a:ext cx="5364885"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CH" b="1" dirty="0"/>
              <a:t>Exercice</a:t>
            </a:r>
          </a:p>
          <a:p>
            <a:r>
              <a:rPr lang="fr-FR" sz="2400" dirty="0"/>
              <a:t>Ouvrir un nouveau projet</a:t>
            </a:r>
          </a:p>
          <a:p>
            <a:r>
              <a:rPr lang="fr-FR" sz="2400" dirty="0"/>
              <a:t>Charger le lidar</a:t>
            </a:r>
          </a:p>
          <a:p>
            <a:pPr lvl="1"/>
            <a:r>
              <a:rPr lang="fr-FR" sz="2000" dirty="0"/>
              <a:t>Faire une coupe</a:t>
            </a:r>
          </a:p>
          <a:p>
            <a:pPr lvl="1"/>
            <a:r>
              <a:rPr lang="fr-FR" sz="2000" dirty="0"/>
              <a:t>Changer la symbologie, colorer par altitude</a:t>
            </a:r>
          </a:p>
          <a:p>
            <a:r>
              <a:rPr lang="fr-FR" sz="2400" dirty="0"/>
              <a:t>Faire une vue 3D</a:t>
            </a:r>
          </a:p>
          <a:p>
            <a:pPr lvl="1"/>
            <a:r>
              <a:rPr lang="fr-FR" sz="2000" dirty="0"/>
              <a:t>Configurer:</a:t>
            </a:r>
          </a:p>
          <a:p>
            <a:pPr lvl="2"/>
            <a:r>
              <a:rPr lang="fr-FR" sz="1600" dirty="0"/>
              <a:t>Afficher éclairage Eye </a:t>
            </a:r>
            <a:r>
              <a:rPr lang="fr-FR" sz="1600" dirty="0" err="1"/>
              <a:t>Dome</a:t>
            </a:r>
            <a:endParaRPr lang="fr-FR" sz="1600" dirty="0"/>
          </a:p>
          <a:p>
            <a:pPr lvl="2"/>
            <a:r>
              <a:rPr lang="fr-FR" sz="1600" dirty="0"/>
              <a:t>La caméra 3D suit la vue 2D</a:t>
            </a:r>
          </a:p>
          <a:p>
            <a:pPr lvl="2"/>
            <a:r>
              <a:rPr lang="fr-FR" sz="1600" dirty="0"/>
              <a:t>Afficher la zone de caméra visible dans la vue de carte 2D</a:t>
            </a:r>
          </a:p>
          <a:p>
            <a:pPr lvl="1"/>
            <a:endParaRPr lang="fr-FR" sz="2000" dirty="0"/>
          </a:p>
          <a:p>
            <a:endParaRPr lang="fr-FR" dirty="0"/>
          </a:p>
          <a:p>
            <a:pPr marL="0" indent="0">
              <a:buNone/>
            </a:pPr>
            <a:endParaRPr lang="fr-FR" dirty="0"/>
          </a:p>
          <a:p>
            <a:endParaRPr lang="fr-FR" dirty="0"/>
          </a:p>
        </p:txBody>
      </p:sp>
      <p:pic>
        <p:nvPicPr>
          <p:cNvPr id="3" name="Image 2">
            <a:extLst>
              <a:ext uri="{FF2B5EF4-FFF2-40B4-BE49-F238E27FC236}">
                <a16:creationId xmlns:a16="http://schemas.microsoft.com/office/drawing/2014/main" id="{DB4BF100-9B43-8179-E53C-11A622A11E7C}"/>
              </a:ext>
            </a:extLst>
          </p:cNvPr>
          <p:cNvPicPr>
            <a:picLocks noChangeAspect="1"/>
          </p:cNvPicPr>
          <p:nvPr/>
        </p:nvPicPr>
        <p:blipFill>
          <a:blip r:embed="rId6"/>
          <a:stretch>
            <a:fillRect/>
          </a:stretch>
        </p:blipFill>
        <p:spPr>
          <a:xfrm>
            <a:off x="8002245" y="1687594"/>
            <a:ext cx="3952875" cy="1952625"/>
          </a:xfrm>
          <a:prstGeom prst="rect">
            <a:avLst/>
          </a:prstGeom>
        </p:spPr>
      </p:pic>
    </p:spTree>
    <p:extLst>
      <p:ext uri="{BB962C8B-B14F-4D97-AF65-F5344CB8AC3E}">
        <p14:creationId xmlns:p14="http://schemas.microsoft.com/office/powerpoint/2010/main" val="4030336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E9637A2-F16C-123B-9796-A16872B9F74A}"/>
              </a:ext>
            </a:extLst>
          </p:cNvPr>
          <p:cNvSpPr>
            <a:spLocks noGrp="1"/>
          </p:cNvSpPr>
          <p:nvPr>
            <p:ph idx="1"/>
          </p:nvPr>
        </p:nvSpPr>
        <p:spPr>
          <a:xfrm>
            <a:off x="783738" y="1253294"/>
            <a:ext cx="10765809" cy="4351338"/>
          </a:xfrm>
        </p:spPr>
        <p:txBody>
          <a:bodyPr/>
          <a:lstStyle/>
          <a:p>
            <a:r>
              <a:rPr lang="de-CH" b="1" dirty="0"/>
              <a:t>Pour aller plus </a:t>
            </a:r>
            <a:r>
              <a:rPr lang="de-CH" b="1" dirty="0" err="1"/>
              <a:t>loin</a:t>
            </a:r>
            <a:endParaRPr lang="de-CH" b="1" dirty="0"/>
          </a:p>
          <a:p>
            <a:pPr lvl="1"/>
            <a:r>
              <a:rPr lang="de-CH" dirty="0" err="1"/>
              <a:t>Géoreferencer</a:t>
            </a:r>
            <a:endParaRPr lang="de-CH" dirty="0"/>
          </a:p>
          <a:p>
            <a:pPr lvl="1"/>
            <a:r>
              <a:rPr lang="de-CH" dirty="0" err="1"/>
              <a:t>Jointures</a:t>
            </a:r>
            <a:r>
              <a:rPr lang="de-CH" dirty="0"/>
              <a:t> et </a:t>
            </a:r>
            <a:r>
              <a:rPr lang="de-CH" dirty="0" err="1"/>
              <a:t>relations</a:t>
            </a:r>
            <a:endParaRPr lang="de-CH" dirty="0"/>
          </a:p>
          <a:p>
            <a:pPr lvl="1"/>
            <a:r>
              <a:rPr lang="de-CH" dirty="0"/>
              <a:t>QField (QGIS portable)</a:t>
            </a:r>
          </a:p>
          <a:p>
            <a:pPr lvl="1"/>
            <a:r>
              <a:rPr lang="de-CH" dirty="0" err="1"/>
              <a:t>Géotraitements</a:t>
            </a:r>
            <a:r>
              <a:rPr lang="de-CH" dirty="0"/>
              <a:t> (</a:t>
            </a:r>
            <a:r>
              <a:rPr lang="de-CH" dirty="0" err="1"/>
              <a:t>vecteur</a:t>
            </a:r>
            <a:r>
              <a:rPr lang="de-CH" dirty="0"/>
              <a:t> – </a:t>
            </a:r>
            <a:r>
              <a:rPr lang="de-CH" dirty="0" err="1"/>
              <a:t>raster</a:t>
            </a:r>
            <a:r>
              <a:rPr lang="de-CH" dirty="0"/>
              <a:t>)</a:t>
            </a:r>
          </a:p>
          <a:p>
            <a:pPr lvl="1"/>
            <a:r>
              <a:rPr lang="de-CH" dirty="0" err="1"/>
              <a:t>Impressions</a:t>
            </a:r>
            <a:r>
              <a:rPr lang="de-CH" dirty="0"/>
              <a:t> </a:t>
            </a:r>
            <a:r>
              <a:rPr lang="de-CH" dirty="0" err="1"/>
              <a:t>d’atlas</a:t>
            </a:r>
            <a:endParaRPr lang="de-CH" dirty="0"/>
          </a:p>
          <a:p>
            <a:pPr lvl="1"/>
            <a:r>
              <a:rPr lang="de-CH" dirty="0"/>
              <a:t>Validation de </a:t>
            </a:r>
            <a:r>
              <a:rPr lang="de-CH" dirty="0" err="1"/>
              <a:t>géométries</a:t>
            </a:r>
            <a:endParaRPr lang="de-CH" dirty="0"/>
          </a:p>
          <a:p>
            <a:pPr lvl="1"/>
            <a:r>
              <a:rPr lang="de-CH" dirty="0" err="1"/>
              <a:t>Expressions</a:t>
            </a:r>
            <a:r>
              <a:rPr lang="de-CH" dirty="0"/>
              <a:t> (</a:t>
            </a:r>
            <a:r>
              <a:rPr lang="de-CH" dirty="0" err="1"/>
              <a:t>sélection</a:t>
            </a:r>
            <a:r>
              <a:rPr lang="de-CH" dirty="0"/>
              <a:t>, </a:t>
            </a:r>
            <a:r>
              <a:rPr lang="de-CH" dirty="0" err="1"/>
              <a:t>symbologies</a:t>
            </a:r>
            <a:r>
              <a:rPr lang="de-CH" dirty="0"/>
              <a:t>, </a:t>
            </a:r>
            <a:r>
              <a:rPr lang="de-CH" dirty="0" err="1"/>
              <a:t>formulaires</a:t>
            </a:r>
            <a:r>
              <a:rPr lang="de-CH" dirty="0"/>
              <a:t>)</a:t>
            </a:r>
          </a:p>
          <a:p>
            <a:pPr lvl="1"/>
            <a:r>
              <a:rPr lang="de-CH" dirty="0" err="1"/>
              <a:t>pyQGIS</a:t>
            </a:r>
            <a:r>
              <a:rPr lang="de-CH" dirty="0"/>
              <a:t> (</a:t>
            </a:r>
            <a:r>
              <a:rPr lang="de-CH" dirty="0" err="1"/>
              <a:t>macros</a:t>
            </a:r>
            <a:r>
              <a:rPr lang="de-CH" dirty="0"/>
              <a:t>, </a:t>
            </a:r>
            <a:r>
              <a:rPr lang="de-CH" dirty="0" err="1"/>
              <a:t>plugin</a:t>
            </a:r>
            <a:r>
              <a:rPr lang="de-CH" dirty="0"/>
              <a:t>, </a:t>
            </a:r>
            <a:r>
              <a:rPr lang="de-CH" dirty="0" err="1"/>
              <a:t>actions</a:t>
            </a:r>
            <a:r>
              <a:rPr lang="de-CH" dirty="0"/>
              <a:t>)</a:t>
            </a:r>
          </a:p>
          <a:p>
            <a:pPr lvl="1"/>
            <a:r>
              <a:rPr lang="de-CH" dirty="0"/>
              <a:t>QGIS et PostgreSQL / </a:t>
            </a:r>
            <a:r>
              <a:rPr lang="de-CH" dirty="0" err="1"/>
              <a:t>PostGIS</a:t>
            </a:r>
            <a:endParaRPr lang="de-CH" dirty="0"/>
          </a:p>
          <a:p>
            <a:pPr lvl="1"/>
            <a:endParaRPr lang="de-CH" dirty="0"/>
          </a:p>
        </p:txBody>
      </p:sp>
      <p:pic>
        <p:nvPicPr>
          <p:cNvPr id="4" name="Image 3">
            <a:extLst>
              <a:ext uri="{FF2B5EF4-FFF2-40B4-BE49-F238E27FC236}">
                <a16:creationId xmlns:a16="http://schemas.microsoft.com/office/drawing/2014/main" id="{A1D9747F-6784-2507-B577-E048A4E2F747}"/>
              </a:ext>
            </a:extLst>
          </p:cNvPr>
          <p:cNvPicPr>
            <a:picLocks noChangeAspect="1"/>
          </p:cNvPicPr>
          <p:nvPr/>
        </p:nvPicPr>
        <p:blipFill rotWithShape="1">
          <a:blip r:embed="rId3" cstate="print">
            <a:clrChange>
              <a:clrFrom>
                <a:srgbClr val="FFFFFF"/>
              </a:clrFrom>
              <a:clrTo>
                <a:srgbClr val="FFFFFF">
                  <a:alpha val="0"/>
                </a:srgbClr>
              </a:clrTo>
            </a:clrChange>
          </a:blip>
          <a:srcRect b="6129"/>
          <a:stretch/>
        </p:blipFill>
        <p:spPr>
          <a:xfrm>
            <a:off x="105444" y="83607"/>
            <a:ext cx="606376" cy="676290"/>
          </a:xfrm>
          <a:prstGeom prst="rect">
            <a:avLst/>
          </a:prstGeom>
        </p:spPr>
      </p:pic>
      <p:sp>
        <p:nvSpPr>
          <p:cNvPr id="5" name="Espace réservé du contenu 5">
            <a:extLst>
              <a:ext uri="{FF2B5EF4-FFF2-40B4-BE49-F238E27FC236}">
                <a16:creationId xmlns:a16="http://schemas.microsoft.com/office/drawing/2014/main" id="{74BC9C97-D170-A50A-F86C-EE53758A6CC1}"/>
              </a:ext>
            </a:extLst>
          </p:cNvPr>
          <p:cNvSpPr txBox="1">
            <a:spLocks/>
          </p:cNvSpPr>
          <p:nvPr/>
        </p:nvSpPr>
        <p:spPr>
          <a:xfrm>
            <a:off x="721221" y="144286"/>
            <a:ext cx="4024950" cy="862328"/>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ahoma" pitchFamily="34" charset="0"/>
                <a:ea typeface="+mn-ea"/>
                <a:cs typeface="Tahoma"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Tahoma" pitchFamily="34" charset="0"/>
                <a:ea typeface="+mn-ea"/>
                <a:cs typeface="Tahoma" pitchFamily="34" charset="0"/>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Tahoma" pitchFamily="34" charset="0"/>
                <a:ea typeface="+mn-ea"/>
                <a:cs typeface="Tahoma" pitchFamily="34" charset="0"/>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Tahoma" pitchFamily="34" charset="0"/>
                <a:ea typeface="+mn-ea"/>
                <a:cs typeface="Tahoma" pitchFamily="34"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fr-CH" sz="2400" b="1" dirty="0">
                <a:solidFill>
                  <a:schemeClr val="tx1"/>
                </a:solidFill>
              </a:rPr>
              <a:t>QGIS</a:t>
            </a:r>
          </a:p>
        </p:txBody>
      </p:sp>
    </p:spTree>
    <p:extLst>
      <p:ext uri="{BB962C8B-B14F-4D97-AF65-F5344CB8AC3E}">
        <p14:creationId xmlns:p14="http://schemas.microsoft.com/office/powerpoint/2010/main" val="153339882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FF0D4EFB63D194B9348AA9E0A3FCB4F" ma:contentTypeVersion="16" ma:contentTypeDescription="Crée un document." ma:contentTypeScope="" ma:versionID="cc7038f81d4a424886341f573e8d6c89">
  <xsd:schema xmlns:xsd="http://www.w3.org/2001/XMLSchema" xmlns:xs="http://www.w3.org/2001/XMLSchema" xmlns:p="http://schemas.microsoft.com/office/2006/metadata/properties" xmlns:ns2="2835b0db-f63d-4a02-b0d7-c0b55332abc0" xmlns:ns3="8a10d31c-6076-48c9-97d5-dd3a3dd190b9" targetNamespace="http://schemas.microsoft.com/office/2006/metadata/properties" ma:root="true" ma:fieldsID="78a58e0af94e9fdc828e9da03ca30329" ns2:_="" ns3:_="">
    <xsd:import namespace="2835b0db-f63d-4a02-b0d7-c0b55332abc0"/>
    <xsd:import namespace="8a10d31c-6076-48c9-97d5-dd3a3dd190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2:MediaServiceLocation" minOccurs="0"/>
                <xsd:element ref="ns3:TaxCatchAll" minOccurs="0"/>
                <xsd:element ref="ns2:lcf76f155ced4ddcb4097134ff3c332f"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35b0db-f63d-4a02-b0d7-c0b55332abc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Balises d’images" ma:readOnly="false" ma:fieldId="{5cf76f15-5ced-4ddc-b409-7134ff3c332f}" ma:taxonomyMulti="true" ma:sspId="f1fc5904-3b74-4657-afd2-87201d13a94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8a10d31c-6076-48c9-97d5-dd3a3dd190b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7d7b2e-2736-4076-b840-5f2d76c59608}" ma:internalName="TaxCatchAll" ma:showField="CatchAllData" ma:web="8a10d31c-6076-48c9-97d5-dd3a3dd190b9">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30F4B7-0F70-4E06-8B00-8877C6ECDBEE}">
  <ds:schemaRefs>
    <ds:schemaRef ds:uri="http://schemas.microsoft.com/sharepoint/v3/contenttype/forms"/>
  </ds:schemaRefs>
</ds:datastoreItem>
</file>

<file path=customXml/itemProps2.xml><?xml version="1.0" encoding="utf-8"?>
<ds:datastoreItem xmlns:ds="http://schemas.openxmlformats.org/officeDocument/2006/customXml" ds:itemID="{28238731-EF23-4274-B271-5BD576CF5E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35b0db-f63d-4a02-b0d7-c0b55332abc0"/>
    <ds:schemaRef ds:uri="8a10d31c-6076-48c9-97d5-dd3a3dd190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2013</Words>
  <Application>Microsoft Office PowerPoint</Application>
  <PresentationFormat>Grand écran</PresentationFormat>
  <Paragraphs>470</Paragraphs>
  <Slides>44</Slides>
  <Notes>42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44</vt:i4>
      </vt:variant>
    </vt:vector>
  </HeadingPairs>
  <TitlesOfParts>
    <vt:vector size="49" baseType="lpstr">
      <vt:lpstr>Arial</vt:lpstr>
      <vt:lpstr>Calibri</vt:lpstr>
      <vt:lpstr>Courier New</vt:lpstr>
      <vt:lpstr>Tahoma</vt:lpstr>
      <vt:lpstr>Thème Office</vt:lpstr>
      <vt:lpstr>Formation QGIS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Jérôme Brinon - IG group SA</dc:creator>
  <cp:lastModifiedBy>Timothee Produit - IG group SA</cp:lastModifiedBy>
  <cp:revision>93</cp:revision>
  <dcterms:created xsi:type="dcterms:W3CDTF">2023-05-04T07:36:12Z</dcterms:created>
  <dcterms:modified xsi:type="dcterms:W3CDTF">2024-11-14T06:37:39Z</dcterms:modified>
</cp:coreProperties>
</file>